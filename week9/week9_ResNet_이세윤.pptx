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6"/>
  </p:notesMasterIdLst>
  <p:sldIdLst>
    <p:sldId id="256" r:id="rId2"/>
    <p:sldId id="311" r:id="rId3"/>
    <p:sldId id="340" r:id="rId4"/>
    <p:sldId id="342" r:id="rId5"/>
    <p:sldId id="341" r:id="rId6"/>
    <p:sldId id="343" r:id="rId7"/>
    <p:sldId id="346" r:id="rId8"/>
    <p:sldId id="349" r:id="rId9"/>
    <p:sldId id="347" r:id="rId10"/>
    <p:sldId id="350" r:id="rId11"/>
    <p:sldId id="351" r:id="rId12"/>
    <p:sldId id="357" r:id="rId13"/>
    <p:sldId id="358" r:id="rId14"/>
    <p:sldId id="353" r:id="rId15"/>
    <p:sldId id="344" r:id="rId16"/>
    <p:sldId id="354" r:id="rId17"/>
    <p:sldId id="356" r:id="rId18"/>
    <p:sldId id="363" r:id="rId19"/>
    <p:sldId id="364" r:id="rId20"/>
    <p:sldId id="355" r:id="rId21"/>
    <p:sldId id="361" r:id="rId22"/>
    <p:sldId id="362" r:id="rId23"/>
    <p:sldId id="359" r:id="rId24"/>
    <p:sldId id="345" r:id="rId25"/>
    <p:sldId id="368" r:id="rId26"/>
    <p:sldId id="369" r:id="rId27"/>
    <p:sldId id="360" r:id="rId28"/>
    <p:sldId id="370" r:id="rId29"/>
    <p:sldId id="365" r:id="rId30"/>
    <p:sldId id="371" r:id="rId31"/>
    <p:sldId id="366" r:id="rId32"/>
    <p:sldId id="372" r:id="rId33"/>
    <p:sldId id="367" r:id="rId34"/>
    <p:sldId id="262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00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0" autoAdjust="0"/>
    <p:restoredTop sz="91363" autoAdjust="0"/>
  </p:normalViewPr>
  <p:slideViewPr>
    <p:cSldViewPr snapToGrid="0">
      <p:cViewPr varScale="1">
        <p:scale>
          <a:sx n="62" d="100"/>
          <a:sy n="62" d="100"/>
        </p:scale>
        <p:origin x="964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E592D-D20D-4772-8E52-3E5D2C073F99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D7641-A159-4A17-9656-10A93CB9D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6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399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575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583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21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96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370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10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779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752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206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590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59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769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97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833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34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921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630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709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69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262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764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123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35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580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588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80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0729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2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413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7032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7641-A159-4A17-9656-10A93CB9D72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98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36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15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29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27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9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12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9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0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98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332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589F1C-2DE5-48C6-8267-CC556DEF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582615"/>
            <a:ext cx="11421209" cy="4914900"/>
          </a:xfrm>
        </p:spPr>
        <p:txBody>
          <a:bodyPr/>
          <a:lstStyle>
            <a:lvl1pPr>
              <a:defRPr sz="2400"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  <a:lvl2pPr>
              <a:defRPr>
                <a:latin typeface="12롯데마트드림Light" panose="02020603020101020101" pitchFamily="18" charset="-127"/>
                <a:ea typeface="12롯데마트드림Light" panose="02020603020101020101" pitchFamily="18" charset="-127"/>
              </a:defRPr>
            </a:lvl2pPr>
            <a:lvl3pPr>
              <a:defRPr>
                <a:latin typeface="12롯데마트드림Light" panose="02020603020101020101" pitchFamily="18" charset="-127"/>
                <a:ea typeface="12롯데마트드림Light" panose="02020603020101020101" pitchFamily="18" charset="-127"/>
              </a:defRPr>
            </a:lvl3pPr>
            <a:lvl4pPr>
              <a:defRPr>
                <a:latin typeface="12롯데마트드림Light" panose="02020603020101020101" pitchFamily="18" charset="-127"/>
                <a:ea typeface="12롯데마트드림Light" panose="02020603020101020101" pitchFamily="18" charset="-127"/>
              </a:defRPr>
            </a:lvl4pPr>
            <a:lvl5pPr>
              <a:defRPr>
                <a:latin typeface="12롯데마트드림Light" panose="02020603020101020101" pitchFamily="18" charset="-127"/>
                <a:ea typeface="12롯데마트드림Light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882ADE-3947-4F40-B3ED-171C0E7BF55F}"/>
              </a:ext>
            </a:extLst>
          </p:cNvPr>
          <p:cNvSpPr/>
          <p:nvPr userDrawn="1"/>
        </p:nvSpPr>
        <p:spPr>
          <a:xfrm>
            <a:off x="-260245" y="1375406"/>
            <a:ext cx="12622230" cy="5233869"/>
          </a:xfrm>
          <a:prstGeom prst="rect">
            <a:avLst/>
          </a:prstGeom>
          <a:noFill/>
          <a:ln w="28575">
            <a:solidFill>
              <a:srgbClr val="3B1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5F2CCE13-A91A-4025-B7B6-8ADF60BBFCA9}"/>
              </a:ext>
            </a:extLst>
          </p:cNvPr>
          <p:cNvSpPr/>
          <p:nvPr userDrawn="1"/>
        </p:nvSpPr>
        <p:spPr>
          <a:xfrm>
            <a:off x="2204720" y="0"/>
            <a:ext cx="9987280" cy="1128610"/>
          </a:xfrm>
          <a:custGeom>
            <a:avLst/>
            <a:gdLst>
              <a:gd name="connsiteX0" fmla="*/ 5751 w 8165776"/>
              <a:gd name="connsiteY0" fmla="*/ 0 h 951570"/>
              <a:gd name="connsiteX1" fmla="*/ 8165776 w 8165776"/>
              <a:gd name="connsiteY1" fmla="*/ 0 h 951570"/>
              <a:gd name="connsiteX2" fmla="*/ 8165776 w 8165776"/>
              <a:gd name="connsiteY2" fmla="*/ 951570 h 951570"/>
              <a:gd name="connsiteX3" fmla="*/ 437624 w 8165776"/>
              <a:gd name="connsiteY3" fmla="*/ 951570 h 951570"/>
              <a:gd name="connsiteX4" fmla="*/ 0 w 8165776"/>
              <a:gd name="connsiteY4" fmla="*/ 513946 h 951570"/>
              <a:gd name="connsiteX5" fmla="*/ 0 w 8165776"/>
              <a:gd name="connsiteY5" fmla="*/ 57046 h 95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65776" h="951570">
                <a:moveTo>
                  <a:pt x="5751" y="0"/>
                </a:moveTo>
                <a:lnTo>
                  <a:pt x="8165776" y="0"/>
                </a:lnTo>
                <a:lnTo>
                  <a:pt x="8165776" y="951570"/>
                </a:lnTo>
                <a:lnTo>
                  <a:pt x="437624" y="951570"/>
                </a:lnTo>
                <a:cubicBezTo>
                  <a:pt x="195931" y="951570"/>
                  <a:pt x="0" y="755639"/>
                  <a:pt x="0" y="513946"/>
                </a:cubicBezTo>
                <a:lnTo>
                  <a:pt x="0" y="570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부제목 2">
            <a:extLst>
              <a:ext uri="{FF2B5EF4-FFF2-40B4-BE49-F238E27FC236}">
                <a16:creationId xmlns:a16="http://schemas.microsoft.com/office/drawing/2014/main" id="{D50450E6-F391-46E8-877D-478B4068F252}"/>
              </a:ext>
            </a:extLst>
          </p:cNvPr>
          <p:cNvSpPr txBox="1">
            <a:spLocks/>
          </p:cNvSpPr>
          <p:nvPr/>
        </p:nvSpPr>
        <p:spPr>
          <a:xfrm>
            <a:off x="10623604" y="78183"/>
            <a:ext cx="1555831" cy="4779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spcBef>
                <a:spcPts val="0"/>
              </a:spcBef>
              <a:buNone/>
            </a:pPr>
            <a:r>
              <a:rPr lang="en-US" altLang="ko-KR" sz="1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12</a:t>
            </a:r>
            <a:r>
              <a:rPr lang="ko-KR" altLang="en-US" sz="1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기 이세윤</a:t>
            </a:r>
            <a:endParaRPr lang="en-US" altLang="ko-KR" sz="1400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0" indent="0" algn="dist">
              <a:spcBef>
                <a:spcPts val="0"/>
              </a:spcBef>
              <a:buNone/>
            </a:pPr>
            <a:r>
              <a:rPr lang="en-US" altLang="ko-KR" sz="1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ResNet</a:t>
            </a:r>
            <a:endParaRPr lang="en-US" altLang="ko-KR" sz="1400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79B845F-573A-4944-9D1A-1F46230FB356}"/>
              </a:ext>
            </a:extLst>
          </p:cNvPr>
          <p:cNvCxnSpPr>
            <a:cxnSpLocks/>
          </p:cNvCxnSpPr>
          <p:nvPr/>
        </p:nvCxnSpPr>
        <p:spPr>
          <a:xfrm>
            <a:off x="10645859" y="-13335"/>
            <a:ext cx="0" cy="5931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75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483C-29A8-4525-9DDD-19098B90EBDE}" type="datetimeFigureOut">
              <a:rPr lang="ko-KR" altLang="en-US" smtClean="0"/>
              <a:t>2020-03-31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A0205-92CC-42B1-99E9-47D36ADAE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81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ike6054.github.io/blog/paper/first-post/#1-introduction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leechamin.tistory.com/184" TargetMode="External"/><Relationship Id="rId4" Type="http://schemas.openxmlformats.org/officeDocument/2006/relationships/hyperlink" Target="https://curaai00.tistory.com/1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87938F4-6A1D-48F7-B5CC-734976D02EB5}"/>
              </a:ext>
            </a:extLst>
          </p:cNvPr>
          <p:cNvGrpSpPr/>
          <p:nvPr/>
        </p:nvGrpSpPr>
        <p:grpSpPr>
          <a:xfrm>
            <a:off x="-105104" y="3751472"/>
            <a:ext cx="12612413" cy="972925"/>
            <a:chOff x="3809231" y="4355889"/>
            <a:chExt cx="4573538" cy="523682"/>
          </a:xfrm>
        </p:grpSpPr>
        <p:sp>
          <p:nvSpPr>
            <p:cNvPr id="6" name="평행 사변형 5">
              <a:extLst>
                <a:ext uri="{FF2B5EF4-FFF2-40B4-BE49-F238E27FC236}">
                  <a16:creationId xmlns:a16="http://schemas.microsoft.com/office/drawing/2014/main" id="{C824ECE7-875B-42C2-B4E7-F48813808A37}"/>
                </a:ext>
              </a:extLst>
            </p:cNvPr>
            <p:cNvSpPr/>
            <p:nvPr userDrawn="1"/>
          </p:nvSpPr>
          <p:spPr>
            <a:xfrm>
              <a:off x="3809231" y="4402762"/>
              <a:ext cx="4573538" cy="476809"/>
            </a:xfrm>
            <a:prstGeom prst="parallelogram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sp>
          <p:nvSpPr>
            <p:cNvPr id="7" name="제목 1">
              <a:extLst>
                <a:ext uri="{FF2B5EF4-FFF2-40B4-BE49-F238E27FC236}">
                  <a16:creationId xmlns:a16="http://schemas.microsoft.com/office/drawing/2014/main" id="{DD0ACA52-4F5E-4568-8EE6-98B7B5740D2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65817" y="4355889"/>
              <a:ext cx="4408364" cy="45805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2000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 for Image Recognition</a:t>
              </a:r>
            </a:p>
            <a:p>
              <a:r>
                <a:rPr lang="en-US" altLang="ko-KR" sz="1600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(</a:t>
              </a:r>
              <a:r>
                <a:rPr lang="en-US" altLang="ko-KR" sz="1600" err="1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Kaiming</a:t>
              </a:r>
              <a:r>
                <a:rPr lang="en-US" altLang="ko-KR" sz="1600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 He, </a:t>
              </a:r>
              <a:r>
                <a:rPr lang="en-US" altLang="ko-KR" sz="1600" err="1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Xiangyu</a:t>
              </a:r>
              <a:r>
                <a:rPr lang="en-US" altLang="ko-KR" sz="1600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 Zhang, </a:t>
              </a:r>
              <a:r>
                <a:rPr lang="en-US" altLang="ko-KR" sz="1600" err="1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Shaoqing</a:t>
              </a:r>
              <a:r>
                <a:rPr lang="en-US" altLang="ko-KR" sz="1600"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 Ren, Jian Sun)</a:t>
              </a:r>
              <a:endParaRPr lang="ko-KR" altLang="ko-KR" sz="90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29ADD8CB-986C-4902-830A-F9A6C2D2256A}"/>
              </a:ext>
            </a:extLst>
          </p:cNvPr>
          <p:cNvSpPr txBox="1">
            <a:spLocks/>
          </p:cNvSpPr>
          <p:nvPr/>
        </p:nvSpPr>
        <p:spPr>
          <a:xfrm>
            <a:off x="403945" y="3024871"/>
            <a:ext cx="11384111" cy="45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ResNet</a:t>
            </a:r>
            <a:endParaRPr lang="ko-KR" altLang="en-US" sz="48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3" name="오각형 9">
            <a:extLst>
              <a:ext uri="{FF2B5EF4-FFF2-40B4-BE49-F238E27FC236}">
                <a16:creationId xmlns:a16="http://schemas.microsoft.com/office/drawing/2014/main" id="{BEA4CC4A-8EA4-4A5E-828A-BA7C8AB5F50E}"/>
              </a:ext>
            </a:extLst>
          </p:cNvPr>
          <p:cNvSpPr/>
          <p:nvPr/>
        </p:nvSpPr>
        <p:spPr>
          <a:xfrm rot="5400000">
            <a:off x="5083150" y="-157580"/>
            <a:ext cx="2025701" cy="2340866"/>
          </a:xfrm>
          <a:prstGeom prst="homePlate">
            <a:avLst>
              <a:gd name="adj" fmla="val 23545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8BBFE-6E5B-4D1A-9A63-377668D8A605}"/>
              </a:ext>
            </a:extLst>
          </p:cNvPr>
          <p:cNvSpPr/>
          <p:nvPr/>
        </p:nvSpPr>
        <p:spPr>
          <a:xfrm>
            <a:off x="5107350" y="718517"/>
            <a:ext cx="1977300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dist">
              <a:spcBef>
                <a:spcPts val="600"/>
              </a:spcBef>
            </a:pPr>
            <a:r>
              <a:rPr lang="en-US" altLang="ko-KR" sz="1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ToBig’s</a:t>
            </a:r>
            <a:r>
              <a:rPr lang="en-US" altLang="ko-KR" sz="1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12</a:t>
            </a:r>
            <a:r>
              <a:rPr lang="ko-KR" altLang="en-US" sz="1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기 이세윤</a:t>
            </a:r>
            <a:endParaRPr lang="en-US" altLang="ko-KR" sz="1400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5D30786-13A2-4AED-B24A-4B13F9F28E53}"/>
              </a:ext>
            </a:extLst>
          </p:cNvPr>
          <p:cNvCxnSpPr>
            <a:cxnSpLocks/>
          </p:cNvCxnSpPr>
          <p:nvPr/>
        </p:nvCxnSpPr>
        <p:spPr>
          <a:xfrm>
            <a:off x="5008718" y="691670"/>
            <a:ext cx="2174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11DEFF-7B6F-447D-A606-E72362823C5A}"/>
              </a:ext>
            </a:extLst>
          </p:cNvPr>
          <p:cNvSpPr/>
          <p:nvPr/>
        </p:nvSpPr>
        <p:spPr>
          <a:xfrm>
            <a:off x="5107350" y="345726"/>
            <a:ext cx="197730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dist">
              <a:spcBef>
                <a:spcPts val="600"/>
              </a:spcBef>
            </a:pPr>
            <a:r>
              <a:rPr lang="ko-KR" altLang="en-US" sz="1600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세션 </a:t>
            </a:r>
            <a:r>
              <a:rPr lang="en-US" altLang="ko-KR" sz="1600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9</a:t>
            </a:r>
            <a:r>
              <a:rPr lang="ko-KR" altLang="en-US" sz="1600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주차</a:t>
            </a:r>
            <a:endParaRPr lang="en-US" altLang="ko-KR" sz="1600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003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84B8BCE-D08E-4808-B7A8-A3B3155E0C90}"/>
              </a:ext>
            </a:extLst>
          </p:cNvPr>
          <p:cNvSpPr/>
          <p:nvPr/>
        </p:nvSpPr>
        <p:spPr>
          <a:xfrm rot="16200000">
            <a:off x="-2153920" y="2661920"/>
            <a:ext cx="6350000" cy="2042160"/>
          </a:xfrm>
          <a:custGeom>
            <a:avLst/>
            <a:gdLst>
              <a:gd name="connsiteX0" fmla="*/ 4804816 w 4804816"/>
              <a:gd name="connsiteY0" fmla="*/ 0 h 1400970"/>
              <a:gd name="connsiteX1" fmla="*/ 4804816 w 4804816"/>
              <a:gd name="connsiteY1" fmla="*/ 984813 h 1400970"/>
              <a:gd name="connsiteX2" fmla="*/ 4376936 w 4804816"/>
              <a:gd name="connsiteY2" fmla="*/ 1400970 h 1400970"/>
              <a:gd name="connsiteX3" fmla="*/ 0 w 4804816"/>
              <a:gd name="connsiteY3" fmla="*/ 1400970 h 1400970"/>
              <a:gd name="connsiteX4" fmla="*/ 0 w 4804816"/>
              <a:gd name="connsiteY4" fmla="*/ 0 h 140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4816" h="1400970">
                <a:moveTo>
                  <a:pt x="4804816" y="0"/>
                </a:moveTo>
                <a:lnTo>
                  <a:pt x="4804816" y="984813"/>
                </a:lnTo>
                <a:cubicBezTo>
                  <a:pt x="4804816" y="1214650"/>
                  <a:pt x="4613247" y="1400970"/>
                  <a:pt x="4376936" y="1400970"/>
                </a:cubicBezTo>
                <a:lnTo>
                  <a:pt x="0" y="140097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C6F52-6F77-4831-BC0D-EC58C3AB448D}"/>
              </a:ext>
            </a:extLst>
          </p:cNvPr>
          <p:cNvSpPr/>
          <p:nvPr/>
        </p:nvSpPr>
        <p:spPr>
          <a:xfrm rot="5400000">
            <a:off x="-1806802" y="3466241"/>
            <a:ext cx="63744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0" spc="6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Contents</a:t>
            </a:r>
            <a:endParaRPr lang="ko-KR" altLang="en-US" sz="8000" spc="600">
              <a:solidFill>
                <a:schemeClr val="bg1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81D24A-4D8F-44B9-ACFB-4495BCABF5AE}"/>
              </a:ext>
            </a:extLst>
          </p:cNvPr>
          <p:cNvCxnSpPr>
            <a:cxnSpLocks/>
          </p:cNvCxnSpPr>
          <p:nvPr/>
        </p:nvCxnSpPr>
        <p:spPr>
          <a:xfrm>
            <a:off x="3326160" y="1472615"/>
            <a:ext cx="886584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D52862-8BED-4B68-8FDF-6A99084D37F9}"/>
              </a:ext>
            </a:extLst>
          </p:cNvPr>
          <p:cNvGrpSpPr/>
          <p:nvPr/>
        </p:nvGrpSpPr>
        <p:grpSpPr>
          <a:xfrm>
            <a:off x="3326160" y="2548409"/>
            <a:ext cx="8865840" cy="704706"/>
            <a:chOff x="2411760" y="1347614"/>
            <a:chExt cx="9780240" cy="704706"/>
          </a:xfrm>
        </p:grpSpPr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7A5C544E-43CC-4D28-A824-52BD8E464588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02 </a:t>
              </a:r>
              <a:r>
                <a:rPr lang="ko-KR" altLang="en-US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Introduction</a:t>
              </a: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F14E9BF-2023-4CC2-8B3B-4D3412F8D5CA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A534-3615-433E-9FEE-51361DD55D2A}"/>
              </a:ext>
            </a:extLst>
          </p:cNvPr>
          <p:cNvGrpSpPr/>
          <p:nvPr/>
        </p:nvGrpSpPr>
        <p:grpSpPr>
          <a:xfrm>
            <a:off x="3326160" y="3428499"/>
            <a:ext cx="8865840" cy="704706"/>
            <a:chOff x="2411760" y="1347614"/>
            <a:chExt cx="9780240" cy="704706"/>
          </a:xfrm>
        </p:grpSpPr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1A7530AE-9758-4C4A-A159-87D760396B00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03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94FE288-FAAD-43D9-8AC1-7D319C65D730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C6B1281-EA45-4694-88A8-FDC1F6E1CE2D}"/>
              </a:ext>
            </a:extLst>
          </p:cNvPr>
          <p:cNvGrpSpPr/>
          <p:nvPr/>
        </p:nvGrpSpPr>
        <p:grpSpPr>
          <a:xfrm>
            <a:off x="3326160" y="4308589"/>
            <a:ext cx="8865840" cy="704706"/>
            <a:chOff x="2411760" y="1347614"/>
            <a:chExt cx="9780240" cy="704706"/>
          </a:xfrm>
        </p:grpSpPr>
        <p:sp>
          <p:nvSpPr>
            <p:cNvPr id="53" name="제목 1">
              <a:extLst>
                <a:ext uri="{FF2B5EF4-FFF2-40B4-BE49-F238E27FC236}">
                  <a16:creationId xmlns:a16="http://schemas.microsoft.com/office/drawing/2014/main" id="{FADE99C0-471E-4EA4-9B0F-AD95B8DEB907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04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Experiments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EF71443-2C50-4C95-8F67-D1353A25E15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335448-89CB-41FD-9A03-AA20BC2304AB}"/>
              </a:ext>
            </a:extLst>
          </p:cNvPr>
          <p:cNvCxnSpPr>
            <a:cxnSpLocks/>
          </p:cNvCxnSpPr>
          <p:nvPr/>
        </p:nvCxnSpPr>
        <p:spPr>
          <a:xfrm>
            <a:off x="3326160" y="2363566"/>
            <a:ext cx="8865840" cy="0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A98CDBE3-606F-4F20-9F8A-3B2437440D4D}"/>
              </a:ext>
            </a:extLst>
          </p:cNvPr>
          <p:cNvSpPr txBox="1">
            <a:spLocks/>
          </p:cNvSpPr>
          <p:nvPr/>
        </p:nvSpPr>
        <p:spPr>
          <a:xfrm>
            <a:off x="3326160" y="1668319"/>
            <a:ext cx="8626378" cy="70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 01 </a:t>
            </a:r>
            <a:r>
              <a: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03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1A5D8998-3968-48F0-A71F-571458C76018}"/>
              </a:ext>
            </a:extLst>
          </p:cNvPr>
          <p:cNvSpPr txBox="1">
            <a:spLocks/>
          </p:cNvSpPr>
          <p:nvPr/>
        </p:nvSpPr>
        <p:spPr>
          <a:xfrm>
            <a:off x="3354573" y="1650238"/>
            <a:ext cx="8626378" cy="70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84B8BCE-D08E-4808-B7A8-A3B3155E0C90}"/>
              </a:ext>
            </a:extLst>
          </p:cNvPr>
          <p:cNvSpPr/>
          <p:nvPr/>
        </p:nvSpPr>
        <p:spPr>
          <a:xfrm rot="16200000">
            <a:off x="-2153920" y="2661920"/>
            <a:ext cx="6350000" cy="2042160"/>
          </a:xfrm>
          <a:custGeom>
            <a:avLst/>
            <a:gdLst>
              <a:gd name="connsiteX0" fmla="*/ 4804816 w 4804816"/>
              <a:gd name="connsiteY0" fmla="*/ 0 h 1400970"/>
              <a:gd name="connsiteX1" fmla="*/ 4804816 w 4804816"/>
              <a:gd name="connsiteY1" fmla="*/ 984813 h 1400970"/>
              <a:gd name="connsiteX2" fmla="*/ 4376936 w 4804816"/>
              <a:gd name="connsiteY2" fmla="*/ 1400970 h 1400970"/>
              <a:gd name="connsiteX3" fmla="*/ 0 w 4804816"/>
              <a:gd name="connsiteY3" fmla="*/ 1400970 h 1400970"/>
              <a:gd name="connsiteX4" fmla="*/ 0 w 4804816"/>
              <a:gd name="connsiteY4" fmla="*/ 0 h 140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4816" h="1400970">
                <a:moveTo>
                  <a:pt x="4804816" y="0"/>
                </a:moveTo>
                <a:lnTo>
                  <a:pt x="4804816" y="984813"/>
                </a:lnTo>
                <a:cubicBezTo>
                  <a:pt x="4804816" y="1214650"/>
                  <a:pt x="4613247" y="1400970"/>
                  <a:pt x="4376936" y="1400970"/>
                </a:cubicBezTo>
                <a:lnTo>
                  <a:pt x="0" y="140097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C6F52-6F77-4831-BC0D-EC58C3AB448D}"/>
              </a:ext>
            </a:extLst>
          </p:cNvPr>
          <p:cNvSpPr/>
          <p:nvPr/>
        </p:nvSpPr>
        <p:spPr>
          <a:xfrm rot="5400000">
            <a:off x="-1806802" y="3466241"/>
            <a:ext cx="63744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0" spc="6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Contents</a:t>
            </a:r>
            <a:endParaRPr lang="ko-KR" altLang="en-US" sz="8000" spc="600">
              <a:solidFill>
                <a:schemeClr val="bg1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81D24A-4D8F-44B9-ACFB-4495BCABF5AE}"/>
              </a:ext>
            </a:extLst>
          </p:cNvPr>
          <p:cNvCxnSpPr>
            <a:cxnSpLocks/>
          </p:cNvCxnSpPr>
          <p:nvPr/>
        </p:nvCxnSpPr>
        <p:spPr>
          <a:xfrm>
            <a:off x="3326160" y="1472615"/>
            <a:ext cx="886584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D52862-8BED-4B68-8FDF-6A99084D37F9}"/>
              </a:ext>
            </a:extLst>
          </p:cNvPr>
          <p:cNvGrpSpPr/>
          <p:nvPr/>
        </p:nvGrpSpPr>
        <p:grpSpPr>
          <a:xfrm>
            <a:off x="3326160" y="2548409"/>
            <a:ext cx="8865840" cy="704706"/>
            <a:chOff x="2411760" y="1347614"/>
            <a:chExt cx="9780240" cy="704706"/>
          </a:xfrm>
        </p:grpSpPr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7A5C544E-43CC-4D28-A824-52BD8E464588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02 </a:t>
              </a:r>
              <a:r>
                <a:rPr lang="ko-KR" altLang="en-US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Introduction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F14E9BF-2023-4CC2-8B3B-4D3412F8D5CA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A534-3615-433E-9FEE-51361DD55D2A}"/>
              </a:ext>
            </a:extLst>
          </p:cNvPr>
          <p:cNvGrpSpPr/>
          <p:nvPr/>
        </p:nvGrpSpPr>
        <p:grpSpPr>
          <a:xfrm>
            <a:off x="3326160" y="3428499"/>
            <a:ext cx="8865840" cy="704706"/>
            <a:chOff x="2411760" y="1347614"/>
            <a:chExt cx="9780240" cy="704706"/>
          </a:xfrm>
        </p:grpSpPr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1A7530AE-9758-4C4A-A159-87D760396B00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03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94FE288-FAAD-43D9-8AC1-7D319C65D730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C6B1281-EA45-4694-88A8-FDC1F6E1CE2D}"/>
              </a:ext>
            </a:extLst>
          </p:cNvPr>
          <p:cNvGrpSpPr/>
          <p:nvPr/>
        </p:nvGrpSpPr>
        <p:grpSpPr>
          <a:xfrm>
            <a:off x="3326160" y="4308589"/>
            <a:ext cx="8865840" cy="704706"/>
            <a:chOff x="2411760" y="1347614"/>
            <a:chExt cx="9780240" cy="704706"/>
          </a:xfrm>
        </p:grpSpPr>
        <p:sp>
          <p:nvSpPr>
            <p:cNvPr id="53" name="제목 1">
              <a:extLst>
                <a:ext uri="{FF2B5EF4-FFF2-40B4-BE49-F238E27FC236}">
                  <a16:creationId xmlns:a16="http://schemas.microsoft.com/office/drawing/2014/main" id="{FADE99C0-471E-4EA4-9B0F-AD95B8DEB907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04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Experiments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EF71443-2C50-4C95-8F67-D1353A25E15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335448-89CB-41FD-9A03-AA20BC2304AB}"/>
              </a:ext>
            </a:extLst>
          </p:cNvPr>
          <p:cNvCxnSpPr>
            <a:cxnSpLocks/>
          </p:cNvCxnSpPr>
          <p:nvPr/>
        </p:nvCxnSpPr>
        <p:spPr>
          <a:xfrm>
            <a:off x="3326160" y="2363566"/>
            <a:ext cx="8865840" cy="0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A98CDBE3-606F-4F20-9F8A-3B2437440D4D}"/>
              </a:ext>
            </a:extLst>
          </p:cNvPr>
          <p:cNvSpPr txBox="1">
            <a:spLocks/>
          </p:cNvSpPr>
          <p:nvPr/>
        </p:nvSpPr>
        <p:spPr>
          <a:xfrm>
            <a:off x="3326160" y="1668319"/>
            <a:ext cx="8626378" cy="70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 01 </a:t>
            </a:r>
            <a:r>
              <a: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922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01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7" y="1762234"/>
            <a:ext cx="5052018" cy="491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err="1"/>
              <a:t>ResNet</a:t>
            </a:r>
            <a:r>
              <a:rPr lang="en-US" altLang="ko-KR" sz="2800"/>
              <a:t> </a:t>
            </a:r>
            <a:r>
              <a:rPr lang="ko-KR" altLang="en-US" sz="2800"/>
              <a:t>요약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err="1"/>
              <a:t>VGGNet</a:t>
            </a:r>
            <a:r>
              <a:rPr lang="ko-KR" altLang="en-US" sz="2000"/>
              <a:t>에서의 이슈가 있었는데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바로 </a:t>
            </a:r>
            <a:r>
              <a:rPr lang="en-US" altLang="ko-KR" sz="2000"/>
              <a:t>CNN</a:t>
            </a:r>
            <a:r>
              <a:rPr lang="ko-KR" altLang="en-US" sz="2000"/>
              <a:t>에서 층이 너무 깊으면 성능이 오히려 나빠진다는 것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9E45F0-40B1-4E68-A525-A054EB4E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35" y="3434571"/>
            <a:ext cx="8105533" cy="28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4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01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7" y="1762234"/>
            <a:ext cx="5052018" cy="491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err="1"/>
              <a:t>ResNet</a:t>
            </a:r>
            <a:r>
              <a:rPr lang="en-US" altLang="ko-KR" sz="2800"/>
              <a:t> </a:t>
            </a:r>
            <a:r>
              <a:rPr lang="ko-KR" altLang="en-US" sz="2800"/>
              <a:t>요약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이에 등장한 </a:t>
            </a:r>
            <a:r>
              <a:rPr lang="en-US" altLang="ko-KR" sz="2000" err="1"/>
              <a:t>ResNet</a:t>
            </a:r>
            <a:r>
              <a:rPr lang="ko-KR" altLang="en-US" sz="2000"/>
              <a:t>은 </a:t>
            </a:r>
            <a:endParaRPr lang="en-US" altLang="ko-KR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>
                <a:solidFill>
                  <a:srgbClr val="C00000"/>
                </a:solidFill>
              </a:rPr>
              <a:t>Residual(</a:t>
            </a:r>
            <a:r>
              <a:rPr lang="ko-KR" altLang="en-US" sz="2000" err="1">
                <a:solidFill>
                  <a:srgbClr val="C00000"/>
                </a:solidFill>
              </a:rPr>
              <a:t>잔차</a:t>
            </a:r>
            <a:r>
              <a:rPr lang="en-US" altLang="ko-KR" sz="2000">
                <a:solidFill>
                  <a:srgbClr val="C00000"/>
                </a:solidFill>
              </a:rPr>
              <a:t>)</a:t>
            </a:r>
            <a:r>
              <a:rPr lang="ko-KR" altLang="en-US" sz="2000"/>
              <a:t>를</a:t>
            </a:r>
            <a:r>
              <a:rPr lang="en-US" altLang="ko-KR" sz="2000"/>
              <a:t> </a:t>
            </a:r>
            <a:r>
              <a:rPr lang="ko-KR" altLang="en-US" sz="2000"/>
              <a:t>학습하는 방법으로 더 깊은 층을 쌓고 학습시키기 용이하도록 하였다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이 방법은 </a:t>
            </a:r>
            <a:r>
              <a:rPr lang="en-US" altLang="ko-KR" sz="2000" err="1"/>
              <a:t>VGGNet</a:t>
            </a:r>
            <a:r>
              <a:rPr lang="ko-KR" altLang="en-US" sz="2000"/>
              <a:t>보다 </a:t>
            </a:r>
            <a:r>
              <a:rPr lang="en-US" altLang="ko-KR" sz="2000"/>
              <a:t>8</a:t>
            </a:r>
            <a:r>
              <a:rPr lang="ko-KR" altLang="en-US" sz="2000"/>
              <a:t>배 깊은 </a:t>
            </a:r>
            <a:r>
              <a:rPr lang="en-US" altLang="ko-KR" sz="2000"/>
              <a:t>152</a:t>
            </a:r>
            <a:r>
              <a:rPr lang="ko-KR" altLang="en-US" sz="2000"/>
              <a:t>개의 층으로 </a:t>
            </a:r>
            <a:r>
              <a:rPr lang="en-US" altLang="ko-KR" sz="2000"/>
              <a:t>3.57%</a:t>
            </a:r>
            <a:r>
              <a:rPr lang="ko-KR" altLang="en-US" sz="2000"/>
              <a:t>라는 매우 작은 </a:t>
            </a:r>
            <a:r>
              <a:rPr lang="en-US" altLang="ko-KR" sz="2000"/>
              <a:t>error</a:t>
            </a:r>
            <a:r>
              <a:rPr lang="ko-KR" altLang="en-US" sz="2000"/>
              <a:t>을 보이며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2015 ILSVRC</a:t>
            </a:r>
            <a:r>
              <a:rPr lang="ko-KR" altLang="en-US" sz="2000"/>
              <a:t>에서 </a:t>
            </a:r>
            <a:r>
              <a:rPr lang="en-US" altLang="ko-KR" sz="2000"/>
              <a:t>1</a:t>
            </a:r>
            <a:r>
              <a:rPr lang="ko-KR" altLang="en-US" sz="2000"/>
              <a:t>등을 하였다</a:t>
            </a:r>
            <a:r>
              <a:rPr lang="en-US" altLang="ko-KR" sz="200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BEA728-43F5-4670-A818-EDE33CFEA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2" b="90394" l="9804" r="89951">
                        <a14:foregroundMark x1="56618" y1="90394" x2="77206" y2="90394"/>
                        <a14:foregroundMark x1="20098" y1="90148" x2="30637" y2="89901"/>
                        <a14:foregroundMark x1="27206" y1="80542" x2="27206" y2="80542"/>
                        <a14:foregroundMark x1="47549" y1="21429" x2="47549" y2="21429"/>
                        <a14:foregroundMark x1="60784" y1="15764" x2="60784" y2="15764"/>
                        <a14:foregroundMark x1="75490" y1="19458" x2="75490" y2="1945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97505" y="3688928"/>
            <a:ext cx="2273729" cy="22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3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1A5D8998-3968-48F0-A71F-571458C76018}"/>
              </a:ext>
            </a:extLst>
          </p:cNvPr>
          <p:cNvSpPr txBox="1">
            <a:spLocks/>
          </p:cNvSpPr>
          <p:nvPr/>
        </p:nvSpPr>
        <p:spPr>
          <a:xfrm>
            <a:off x="3354573" y="2518137"/>
            <a:ext cx="8626378" cy="70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84B8BCE-D08E-4808-B7A8-A3B3155E0C90}"/>
              </a:ext>
            </a:extLst>
          </p:cNvPr>
          <p:cNvSpPr/>
          <p:nvPr/>
        </p:nvSpPr>
        <p:spPr>
          <a:xfrm rot="16200000">
            <a:off x="-2153920" y="2661920"/>
            <a:ext cx="6350000" cy="2042160"/>
          </a:xfrm>
          <a:custGeom>
            <a:avLst/>
            <a:gdLst>
              <a:gd name="connsiteX0" fmla="*/ 4804816 w 4804816"/>
              <a:gd name="connsiteY0" fmla="*/ 0 h 1400970"/>
              <a:gd name="connsiteX1" fmla="*/ 4804816 w 4804816"/>
              <a:gd name="connsiteY1" fmla="*/ 984813 h 1400970"/>
              <a:gd name="connsiteX2" fmla="*/ 4376936 w 4804816"/>
              <a:gd name="connsiteY2" fmla="*/ 1400970 h 1400970"/>
              <a:gd name="connsiteX3" fmla="*/ 0 w 4804816"/>
              <a:gd name="connsiteY3" fmla="*/ 1400970 h 1400970"/>
              <a:gd name="connsiteX4" fmla="*/ 0 w 4804816"/>
              <a:gd name="connsiteY4" fmla="*/ 0 h 140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4816" h="1400970">
                <a:moveTo>
                  <a:pt x="4804816" y="0"/>
                </a:moveTo>
                <a:lnTo>
                  <a:pt x="4804816" y="984813"/>
                </a:lnTo>
                <a:cubicBezTo>
                  <a:pt x="4804816" y="1214650"/>
                  <a:pt x="4613247" y="1400970"/>
                  <a:pt x="4376936" y="1400970"/>
                </a:cubicBezTo>
                <a:lnTo>
                  <a:pt x="0" y="140097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C6F52-6F77-4831-BC0D-EC58C3AB448D}"/>
              </a:ext>
            </a:extLst>
          </p:cNvPr>
          <p:cNvSpPr/>
          <p:nvPr/>
        </p:nvSpPr>
        <p:spPr>
          <a:xfrm rot="5400000">
            <a:off x="-1806802" y="3466241"/>
            <a:ext cx="63744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0" spc="6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Contents</a:t>
            </a:r>
            <a:endParaRPr lang="ko-KR" altLang="en-US" sz="8000" spc="600">
              <a:solidFill>
                <a:schemeClr val="bg1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81D24A-4D8F-44B9-ACFB-4495BCABF5AE}"/>
              </a:ext>
            </a:extLst>
          </p:cNvPr>
          <p:cNvCxnSpPr>
            <a:cxnSpLocks/>
          </p:cNvCxnSpPr>
          <p:nvPr/>
        </p:nvCxnSpPr>
        <p:spPr>
          <a:xfrm>
            <a:off x="3326160" y="1472615"/>
            <a:ext cx="886584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D52862-8BED-4B68-8FDF-6A99084D37F9}"/>
              </a:ext>
            </a:extLst>
          </p:cNvPr>
          <p:cNvGrpSpPr/>
          <p:nvPr/>
        </p:nvGrpSpPr>
        <p:grpSpPr>
          <a:xfrm>
            <a:off x="3326160" y="2548409"/>
            <a:ext cx="8865840" cy="704706"/>
            <a:chOff x="2411760" y="1347614"/>
            <a:chExt cx="9780240" cy="704706"/>
          </a:xfrm>
        </p:grpSpPr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7A5C544E-43CC-4D28-A824-52BD8E464588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02 </a:t>
              </a:r>
              <a:r>
                <a:rPr lang="ko-KR" altLang="en-US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Introduction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F14E9BF-2023-4CC2-8B3B-4D3412F8D5CA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A534-3615-433E-9FEE-51361DD55D2A}"/>
              </a:ext>
            </a:extLst>
          </p:cNvPr>
          <p:cNvGrpSpPr/>
          <p:nvPr/>
        </p:nvGrpSpPr>
        <p:grpSpPr>
          <a:xfrm>
            <a:off x="3326160" y="3428499"/>
            <a:ext cx="8865840" cy="704706"/>
            <a:chOff x="2411760" y="1347614"/>
            <a:chExt cx="9780240" cy="704706"/>
          </a:xfrm>
        </p:grpSpPr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1A7530AE-9758-4C4A-A159-87D760396B00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03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94FE288-FAAD-43D9-8AC1-7D319C65D730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C6B1281-EA45-4694-88A8-FDC1F6E1CE2D}"/>
              </a:ext>
            </a:extLst>
          </p:cNvPr>
          <p:cNvGrpSpPr/>
          <p:nvPr/>
        </p:nvGrpSpPr>
        <p:grpSpPr>
          <a:xfrm>
            <a:off x="3326160" y="4308589"/>
            <a:ext cx="8865840" cy="704706"/>
            <a:chOff x="2411760" y="1347614"/>
            <a:chExt cx="9780240" cy="704706"/>
          </a:xfrm>
        </p:grpSpPr>
        <p:sp>
          <p:nvSpPr>
            <p:cNvPr id="53" name="제목 1">
              <a:extLst>
                <a:ext uri="{FF2B5EF4-FFF2-40B4-BE49-F238E27FC236}">
                  <a16:creationId xmlns:a16="http://schemas.microsoft.com/office/drawing/2014/main" id="{FADE99C0-471E-4EA4-9B0F-AD95B8DEB907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04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Experiments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EF71443-2C50-4C95-8F67-D1353A25E15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335448-89CB-41FD-9A03-AA20BC2304AB}"/>
              </a:ext>
            </a:extLst>
          </p:cNvPr>
          <p:cNvCxnSpPr>
            <a:cxnSpLocks/>
          </p:cNvCxnSpPr>
          <p:nvPr/>
        </p:nvCxnSpPr>
        <p:spPr>
          <a:xfrm>
            <a:off x="3326160" y="2363566"/>
            <a:ext cx="8865840" cy="0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A98CDBE3-606F-4F20-9F8A-3B2437440D4D}"/>
              </a:ext>
            </a:extLst>
          </p:cNvPr>
          <p:cNvSpPr txBox="1">
            <a:spLocks/>
          </p:cNvSpPr>
          <p:nvPr/>
        </p:nvSpPr>
        <p:spPr>
          <a:xfrm>
            <a:off x="3326160" y="1668319"/>
            <a:ext cx="8626378" cy="70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 01 </a:t>
            </a:r>
            <a:r>
              <a: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103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1098847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“</a:t>
            </a:r>
            <a:r>
              <a:rPr lang="ko-KR" altLang="en-US" sz="2800"/>
              <a:t>과연 층을 깊게 쌓는 것만으로 쉽게 성능을 높일 수 있을까</a:t>
            </a:r>
            <a:r>
              <a:rPr lang="en-US" altLang="ko-KR" sz="2800"/>
              <a:t>?”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1341382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깊은 층을 쌓는 실험에서 성능 저하 문제가 일어났다</a:t>
            </a:r>
            <a:r>
              <a:rPr lang="en-US" altLang="ko-KR" sz="2000"/>
              <a:t>!</a:t>
            </a:r>
          </a:p>
          <a:p>
            <a:pPr>
              <a:buFontTx/>
              <a:buChar char="-"/>
            </a:pPr>
            <a:r>
              <a:rPr lang="ko-KR" altLang="en-US" sz="2000"/>
              <a:t>층의 깊이가 증가하면서 정확도가 ＇</a:t>
            </a:r>
            <a:r>
              <a:rPr lang="ko-KR" altLang="en-US" sz="2000" err="1"/>
              <a:t>포화상태＇에</a:t>
            </a:r>
            <a:r>
              <a:rPr lang="ko-KR" altLang="en-US" sz="2000"/>
              <a:t> 도달하게 되어 성능이 떨어지는 현상</a:t>
            </a:r>
            <a:endParaRPr lang="en-US" altLang="ko-KR" sz="2000"/>
          </a:p>
          <a:p>
            <a:pPr>
              <a:buFontTx/>
              <a:buChar char="-"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이는 </a:t>
            </a:r>
            <a:r>
              <a:rPr lang="en-US" altLang="ko-KR" sz="2000"/>
              <a:t>overfitting</a:t>
            </a:r>
            <a:r>
              <a:rPr lang="ko-KR" altLang="en-US" sz="2000"/>
              <a:t>으로 인한 것은 </a:t>
            </a:r>
            <a:r>
              <a:rPr lang="ko-KR" altLang="en-US" sz="2000" err="1"/>
              <a:t>아니였다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en-US" altLang="ko-KR" sz="2000"/>
              <a:t>(overfitting</a:t>
            </a:r>
            <a:r>
              <a:rPr lang="ko-KR" altLang="en-US" sz="2000"/>
              <a:t>이라면 </a:t>
            </a:r>
            <a:r>
              <a:rPr lang="en-US" altLang="ko-KR" sz="2000"/>
              <a:t>train</a:t>
            </a:r>
            <a:r>
              <a:rPr lang="ko-KR" altLang="en-US" sz="2000"/>
              <a:t>에서의 성능은 더 좋아야 하는데 그렇지 않은 것을 알 수 있음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그렇다면 무엇</a:t>
            </a:r>
            <a:r>
              <a:rPr lang="en-US" altLang="ko-KR" sz="2000"/>
              <a:t>?</a:t>
            </a:r>
          </a:p>
          <a:p>
            <a:pPr>
              <a:buFontTx/>
              <a:buChar char="-"/>
            </a:pPr>
            <a:r>
              <a:rPr lang="en-US" altLang="ko-KR" sz="2000">
                <a:solidFill>
                  <a:srgbClr val="C00000"/>
                </a:solidFill>
              </a:rPr>
              <a:t>Degradation </a:t>
            </a:r>
            <a:r>
              <a:rPr lang="ko-KR" altLang="en-US" sz="2000">
                <a:solidFill>
                  <a:srgbClr val="C00000"/>
                </a:solidFill>
              </a:rPr>
              <a:t>문제</a:t>
            </a:r>
            <a:r>
              <a:rPr lang="en-US" altLang="ko-KR" sz="2000">
                <a:solidFill>
                  <a:srgbClr val="C00000"/>
                </a:solidFill>
              </a:rPr>
              <a:t>!</a:t>
            </a:r>
          </a:p>
          <a:p>
            <a:pPr marL="0" indent="0">
              <a:buNone/>
            </a:pPr>
            <a:r>
              <a:rPr lang="ko-KR" altLang="en-US" sz="2000"/>
              <a:t>   저자들은 이 문제가 </a:t>
            </a:r>
            <a:r>
              <a:rPr lang="en-US" altLang="ko-KR" sz="2000"/>
              <a:t>network</a:t>
            </a:r>
            <a:r>
              <a:rPr lang="ko-KR" altLang="en-US" sz="2000"/>
              <a:t>가 깊어질수록 </a:t>
            </a:r>
            <a:r>
              <a:rPr lang="en-US" altLang="ko-KR" sz="2000"/>
              <a:t>vanishing gradient</a:t>
            </a:r>
            <a:r>
              <a:rPr lang="ko-KR" altLang="en-US" sz="2000"/>
              <a:t>가 크게 영향을 주기 때문이라고 보았다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6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7" y="1762234"/>
            <a:ext cx="5052018" cy="491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/>
              <a:t>아까 봤던 이 그림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20-layer</a:t>
            </a:r>
            <a:r>
              <a:rPr lang="ko-KR" altLang="en-US" sz="2000"/>
              <a:t>와 </a:t>
            </a:r>
            <a:r>
              <a:rPr lang="en-US" altLang="ko-KR" sz="2000"/>
              <a:t>56-layer</a:t>
            </a:r>
            <a:r>
              <a:rPr lang="ko-KR" altLang="en-US" sz="2000"/>
              <a:t>의 </a:t>
            </a:r>
            <a:r>
              <a:rPr lang="en-US" altLang="ko-KR" sz="2000"/>
              <a:t>network</a:t>
            </a:r>
            <a:r>
              <a:rPr lang="ko-KR" altLang="en-US" sz="2000"/>
              <a:t>가 </a:t>
            </a:r>
            <a:r>
              <a:rPr lang="en-US" altLang="ko-KR" sz="2000"/>
              <a:t>CIFAR-10 </a:t>
            </a:r>
            <a:r>
              <a:rPr lang="ko-KR" altLang="en-US" sz="2000"/>
              <a:t>데이터셋을 학습하였을 때의 결과</a:t>
            </a: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층이 더 깊을수록 </a:t>
            </a:r>
            <a:r>
              <a:rPr lang="en-US" altLang="ko-KR" sz="2000"/>
              <a:t>training error</a:t>
            </a:r>
            <a:r>
              <a:rPr lang="ko-KR" altLang="en-US" sz="2000"/>
              <a:t>가 더 높았으며</a:t>
            </a:r>
            <a:r>
              <a:rPr lang="en-US" altLang="ko-KR" sz="2000"/>
              <a:t>, test error </a:t>
            </a:r>
            <a:r>
              <a:rPr lang="ko-KR" altLang="en-US" sz="2000"/>
              <a:t>또한 더 높았다</a:t>
            </a:r>
            <a:r>
              <a:rPr lang="en-US" altLang="ko-KR" sz="2000"/>
              <a:t>.</a:t>
            </a:r>
          </a:p>
          <a:p>
            <a:pPr marL="0" indent="0" algn="ctr">
              <a:buNone/>
            </a:pPr>
            <a:r>
              <a:rPr lang="ko-KR" altLang="en-US" sz="2000"/>
              <a:t>이유는</a:t>
            </a:r>
            <a:r>
              <a:rPr lang="en-US" altLang="ko-KR" sz="2000"/>
              <a:t>, </a:t>
            </a:r>
            <a:r>
              <a:rPr lang="ko-KR" altLang="en-US" sz="2800">
                <a:solidFill>
                  <a:srgbClr val="C00000"/>
                </a:solidFill>
              </a:rPr>
              <a:t>망이 깊을수록 최적화의 난이도가 올라가기 때문</a:t>
            </a:r>
            <a:r>
              <a:rPr lang="en-US" altLang="ko-KR" sz="2800">
                <a:solidFill>
                  <a:srgbClr val="C00000"/>
                </a:solidFill>
              </a:rPr>
              <a:t>!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A2497A-67EB-43DE-9ACE-BC99C0BB9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21" y="1763866"/>
            <a:ext cx="5222928" cy="296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4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</a:t>
            </a:r>
            <a:r>
              <a:rPr lang="ko-KR" altLang="en-US" sz="2800"/>
              <a:t> </a:t>
            </a:r>
            <a:r>
              <a:rPr lang="en-US" altLang="ko-KR" sz="2800"/>
              <a:t>Learning Framework</a:t>
            </a:r>
            <a:r>
              <a:rPr lang="ko-KR" altLang="en-US" sz="2800"/>
              <a:t>을 통해 성능 저하 문제를 해결하자</a:t>
            </a:r>
            <a:r>
              <a:rPr lang="en-US" altLang="ko-KR" sz="2800"/>
              <a:t>!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7" name="내용 개체 틀 10">
            <a:extLst>
              <a:ext uri="{FF2B5EF4-FFF2-40B4-BE49-F238E27FC236}">
                <a16:creationId xmlns:a16="http://schemas.microsoft.com/office/drawing/2014/main" id="{79D852C4-A2A3-45E8-862F-5B12C1E8F177}"/>
              </a:ext>
            </a:extLst>
          </p:cNvPr>
          <p:cNvSpPr txBox="1">
            <a:spLocks/>
          </p:cNvSpPr>
          <p:nvPr/>
        </p:nvSpPr>
        <p:spPr>
          <a:xfrm>
            <a:off x="537797" y="26134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Shallow architecture </a:t>
            </a:r>
            <a:r>
              <a:rPr lang="ko-KR" altLang="en-US" sz="2000"/>
              <a:t>에 </a:t>
            </a:r>
            <a:r>
              <a:rPr lang="en-US" altLang="ko-KR" sz="2000">
                <a:solidFill>
                  <a:srgbClr val="C00000"/>
                </a:solidFill>
              </a:rPr>
              <a:t>Identity</a:t>
            </a:r>
            <a:r>
              <a:rPr lang="ko-KR" altLang="en-US" sz="2000">
                <a:solidFill>
                  <a:srgbClr val="C00000"/>
                </a:solidFill>
              </a:rPr>
              <a:t> </a:t>
            </a:r>
            <a:r>
              <a:rPr lang="en-US" altLang="ko-KR" sz="2000">
                <a:solidFill>
                  <a:srgbClr val="C00000"/>
                </a:solidFill>
              </a:rPr>
              <a:t>Mapping</a:t>
            </a:r>
            <a:r>
              <a:rPr lang="ko-KR" altLang="en-US" sz="2000">
                <a:solidFill>
                  <a:srgbClr val="C00000"/>
                </a:solidFill>
              </a:rPr>
              <a:t>을 하는 </a:t>
            </a:r>
            <a:r>
              <a:rPr lang="en-US" altLang="ko-KR" sz="2000">
                <a:solidFill>
                  <a:srgbClr val="C00000"/>
                </a:solidFill>
              </a:rPr>
              <a:t>layer</a:t>
            </a:r>
            <a:r>
              <a:rPr lang="ko-KR" altLang="en-US" sz="2000"/>
              <a:t>만 추가하여 </a:t>
            </a:r>
            <a:r>
              <a:rPr lang="en-US" altLang="ko-KR" sz="2000"/>
              <a:t>Deeper architecture</a:t>
            </a:r>
            <a:r>
              <a:rPr lang="ko-KR" altLang="en-US" sz="2000"/>
              <a:t>를 만든다면 성능이 더 나빠지지 않지 않을까</a:t>
            </a:r>
            <a:r>
              <a:rPr lang="en-US" altLang="ko-KR" sz="2000"/>
              <a:t>?</a:t>
            </a:r>
          </a:p>
          <a:p>
            <a:pPr marL="0" indent="0">
              <a:buNone/>
            </a:pPr>
            <a:r>
              <a:rPr lang="en-US" altLang="ko-KR" sz="2000"/>
              <a:t>- Identity Mapping</a:t>
            </a:r>
            <a:r>
              <a:rPr lang="ko-KR" altLang="en-US" sz="2000"/>
              <a:t>을 하는 </a:t>
            </a:r>
            <a:r>
              <a:rPr lang="en-US" altLang="ko-KR" sz="2000"/>
              <a:t>Layer</a:t>
            </a:r>
            <a:r>
              <a:rPr lang="ko-KR" altLang="en-US" sz="2000"/>
              <a:t>를 쌓으면 아무일도 하지 않는 </a:t>
            </a:r>
            <a:r>
              <a:rPr lang="en-US" altLang="ko-KR" sz="2000"/>
              <a:t>Layer</a:t>
            </a:r>
            <a:r>
              <a:rPr lang="ko-KR" altLang="en-US" sz="2000"/>
              <a:t>가 추가되는 것이기 때문에 적어도 성능이 더 떨어지지는 않을 것이라는 생각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Underlying Mapping</a:t>
            </a:r>
            <a:r>
              <a:rPr lang="ko-KR" altLang="en-US" sz="2000"/>
              <a:t>을 직접 학습하지 않고 </a:t>
            </a:r>
            <a:r>
              <a:rPr lang="en-US" altLang="ko-KR" sz="2000">
                <a:solidFill>
                  <a:srgbClr val="C00000"/>
                </a:solidFill>
              </a:rPr>
              <a:t>Residual</a:t>
            </a:r>
            <a:r>
              <a:rPr lang="ko-KR" altLang="en-US" sz="2000">
                <a:solidFill>
                  <a:srgbClr val="C00000"/>
                </a:solidFill>
              </a:rPr>
              <a:t> </a:t>
            </a:r>
            <a:r>
              <a:rPr lang="en-US" altLang="ko-KR" sz="2000">
                <a:solidFill>
                  <a:srgbClr val="C00000"/>
                </a:solidFill>
              </a:rPr>
              <a:t>Mapping</a:t>
            </a:r>
            <a:r>
              <a:rPr lang="ko-KR" altLang="en-US" sz="2000"/>
              <a:t>에 </a:t>
            </a:r>
            <a:r>
              <a:rPr lang="en-US" altLang="ko-KR" sz="2000"/>
              <a:t>fit</a:t>
            </a:r>
            <a:r>
              <a:rPr lang="ko-KR" altLang="en-US" sz="2000"/>
              <a:t>하여 학습하자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67876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Mapping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FC9345-3F55-4857-BFC2-5ADD6A0179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895"/>
          <a:stretch/>
        </p:blipFill>
        <p:spPr>
          <a:xfrm>
            <a:off x="3101280" y="2408694"/>
            <a:ext cx="7353300" cy="3372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7C9DF7-694A-4052-87F3-7B6C77C38ED3}"/>
              </a:ext>
            </a:extLst>
          </p:cNvPr>
          <p:cNvSpPr txBox="1"/>
          <p:nvPr/>
        </p:nvSpPr>
        <p:spPr>
          <a:xfrm>
            <a:off x="2619219" y="4974957"/>
            <a:ext cx="2572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H(x) =&gt; </a:t>
            </a:r>
            <a:endParaRPr lang="ko-KR" altLang="en-US" sz="3200">
              <a:solidFill>
                <a:srgbClr val="C0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015B5-E205-4734-87A8-B7CAC95AD6E8}"/>
              </a:ext>
            </a:extLst>
          </p:cNvPr>
          <p:cNvSpPr txBox="1"/>
          <p:nvPr/>
        </p:nvSpPr>
        <p:spPr>
          <a:xfrm>
            <a:off x="1593747" y="3608522"/>
            <a:ext cx="2497809" cy="59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H(x) - x &lt;= </a:t>
            </a:r>
            <a:endParaRPr lang="ko-KR" altLang="en-US" sz="3200">
              <a:solidFill>
                <a:srgbClr val="C0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58C8E-F6B0-411B-ABD8-1B14D00CEBC8}"/>
              </a:ext>
            </a:extLst>
          </p:cNvPr>
          <p:cNvSpPr txBox="1"/>
          <p:nvPr/>
        </p:nvSpPr>
        <p:spPr>
          <a:xfrm>
            <a:off x="3528449" y="1715147"/>
            <a:ext cx="494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</a:t>
            </a:r>
            <a:r>
              <a:rPr lang="ko-KR" altLang="en-US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최적의 </a:t>
            </a:r>
            <a:r>
              <a:rPr lang="en-US" altLang="ko-KR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H(x)</a:t>
            </a:r>
            <a:r>
              <a:rPr lang="ko-KR" altLang="en-US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를 찾는 것이 목적</a:t>
            </a:r>
          </a:p>
        </p:txBody>
      </p:sp>
    </p:spTree>
    <p:extLst>
      <p:ext uri="{BB962C8B-B14F-4D97-AF65-F5344CB8AC3E}">
        <p14:creationId xmlns:p14="http://schemas.microsoft.com/office/powerpoint/2010/main" val="327663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Mapping</a:t>
            </a:r>
            <a:r>
              <a:rPr lang="ko-KR" altLang="en-US" sz="2800"/>
              <a:t>을 </a:t>
            </a:r>
            <a:r>
              <a:rPr lang="en-US" altLang="ko-KR" sz="2800"/>
              <a:t>Optimize</a:t>
            </a:r>
            <a:r>
              <a:rPr lang="ko-KR" altLang="en-US" sz="2800"/>
              <a:t>하는 것이 더 쉽다</a:t>
            </a:r>
            <a:r>
              <a:rPr lang="en-US" altLang="ko-KR" sz="2800"/>
              <a:t>!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C5D221FD-E565-4094-BB31-5C81541371E0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H(x)</a:t>
            </a:r>
            <a:r>
              <a:rPr lang="ko-KR" altLang="en-US" sz="2000"/>
              <a:t>에 대한 </a:t>
            </a:r>
            <a:r>
              <a:rPr lang="en-US" altLang="ko-KR" sz="2000"/>
              <a:t>optimal solution</a:t>
            </a:r>
            <a:r>
              <a:rPr lang="ko-KR" altLang="en-US" sz="2000"/>
              <a:t>이 </a:t>
            </a:r>
            <a:r>
              <a:rPr lang="en-US" altLang="ko-KR" sz="2000"/>
              <a:t>identity mapping</a:t>
            </a:r>
            <a:r>
              <a:rPr lang="ko-KR" altLang="en-US" sz="2000"/>
              <a:t>이라고 가정하면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en-US" altLang="ko-KR" sz="2000"/>
              <a:t>H(x)</a:t>
            </a:r>
            <a:r>
              <a:rPr lang="ko-KR" altLang="en-US" sz="2000"/>
              <a:t>를 </a:t>
            </a:r>
            <a:r>
              <a:rPr lang="en-US" altLang="ko-KR" sz="2000"/>
              <a:t>x</a:t>
            </a:r>
            <a:r>
              <a:rPr lang="ko-KR" altLang="en-US" sz="2000"/>
              <a:t>가 되도록 학습하는 것보다는 </a:t>
            </a:r>
            <a:r>
              <a:rPr lang="en-US" altLang="ko-KR" sz="2000">
                <a:solidFill>
                  <a:srgbClr val="C00000"/>
                </a:solidFill>
              </a:rPr>
              <a:t>F(x) = H(x) – x = 0</a:t>
            </a:r>
            <a:r>
              <a:rPr lang="ko-KR" altLang="en-US" sz="2000"/>
              <a:t>이 되도록 학습하는 것이 더 쉬울 것이다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즉</a:t>
            </a:r>
            <a:r>
              <a:rPr lang="en-US" altLang="ko-KR" sz="2000"/>
              <a:t>, residual (</a:t>
            </a:r>
            <a:r>
              <a:rPr lang="ko-KR" altLang="en-US" sz="2000"/>
              <a:t>입력인 </a:t>
            </a:r>
            <a:r>
              <a:rPr lang="en-US" altLang="ko-KR" sz="2000"/>
              <a:t>x</a:t>
            </a:r>
            <a:r>
              <a:rPr lang="ko-KR" altLang="en-US" sz="2000"/>
              <a:t>와의 잔차</a:t>
            </a:r>
            <a:r>
              <a:rPr lang="en-US" altLang="ko-KR" sz="2000"/>
              <a:t>) F(x)</a:t>
            </a:r>
            <a:r>
              <a:rPr lang="ko-KR" altLang="en-US" sz="2000"/>
              <a:t>가 </a:t>
            </a:r>
            <a:r>
              <a:rPr lang="en-US" altLang="ko-KR" sz="2000"/>
              <a:t>0</a:t>
            </a:r>
            <a:r>
              <a:rPr lang="ko-KR" altLang="en-US" sz="2000"/>
              <a:t>이 되도록 하는 것을 목적으로 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1824123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0C48F8CF-596D-4231-AC61-3D31D6A7DBD5}"/>
              </a:ext>
            </a:extLst>
          </p:cNvPr>
          <p:cNvSpPr txBox="1">
            <a:spLocks/>
          </p:cNvSpPr>
          <p:nvPr/>
        </p:nvSpPr>
        <p:spPr>
          <a:xfrm>
            <a:off x="3513221" y="1780673"/>
            <a:ext cx="5085347" cy="385011"/>
          </a:xfrm>
          <a:prstGeom prst="rect">
            <a:avLst/>
          </a:prstGeom>
          <a:solidFill>
            <a:srgbClr val="FFFF00">
              <a:alpha val="80000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Block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FC9345-3F55-4857-BFC2-5ADD6A0179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895"/>
          <a:stretch/>
        </p:blipFill>
        <p:spPr>
          <a:xfrm>
            <a:off x="3101280" y="2408694"/>
            <a:ext cx="7353300" cy="3372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D58C8E-F6B0-411B-ABD8-1B14D00CEBC8}"/>
              </a:ext>
            </a:extLst>
          </p:cNvPr>
          <p:cNvSpPr txBox="1"/>
          <p:nvPr/>
        </p:nvSpPr>
        <p:spPr>
          <a:xfrm>
            <a:off x="3218485" y="1715147"/>
            <a:ext cx="813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Skip Connection </a:t>
            </a:r>
            <a:r>
              <a:rPr lang="en-US" altLang="ko-KR" sz="20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(Shortcut Connection)</a:t>
            </a:r>
            <a:r>
              <a:rPr lang="ko-KR" altLang="en-US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으로 구현</a:t>
            </a:r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Identity Mapping</a:t>
            </a:r>
            <a:r>
              <a:rPr lang="ko-KR" altLang="en-US" sz="2000"/>
              <a:t>에 의해 </a:t>
            </a:r>
            <a:r>
              <a:rPr lang="en-US" altLang="ko-KR" sz="2000"/>
              <a:t>Block</a:t>
            </a:r>
            <a:r>
              <a:rPr lang="ko-KR" altLang="en-US" sz="2000"/>
              <a:t>의 </a:t>
            </a:r>
            <a:r>
              <a:rPr lang="en-US" altLang="ko-KR" sz="2000"/>
              <a:t>Input(x)</a:t>
            </a:r>
            <a:r>
              <a:rPr lang="ko-KR" altLang="en-US" sz="2000"/>
              <a:t>이 </a:t>
            </a:r>
            <a:r>
              <a:rPr lang="en-US" altLang="ko-KR" sz="2000"/>
              <a:t>Output</a:t>
            </a:r>
            <a:r>
              <a:rPr lang="ko-KR" altLang="en-US" sz="2000"/>
              <a:t>에 그대로 더해지게 된다</a:t>
            </a:r>
            <a:r>
              <a:rPr lang="en-US" altLang="ko-KR" sz="2000"/>
              <a:t>.</a:t>
            </a:r>
          </a:p>
        </p:txBody>
      </p:sp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CBA5E994-F7AC-4A01-9C1A-1835DD6F2637}"/>
              </a:ext>
            </a:extLst>
          </p:cNvPr>
          <p:cNvSpPr txBox="1">
            <a:spLocks/>
          </p:cNvSpPr>
          <p:nvPr/>
        </p:nvSpPr>
        <p:spPr>
          <a:xfrm>
            <a:off x="3601840" y="2196310"/>
            <a:ext cx="5863002" cy="49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-&gt; </a:t>
            </a:r>
            <a:r>
              <a:rPr lang="ko-KR" altLang="en-US" sz="2000"/>
              <a:t>한 개 이상의 </a:t>
            </a:r>
            <a:r>
              <a:rPr lang="en-US" altLang="ko-KR" sz="2000"/>
              <a:t>layer</a:t>
            </a:r>
            <a:r>
              <a:rPr lang="ko-KR" altLang="en-US" sz="2000"/>
              <a:t>를 </a:t>
            </a:r>
            <a:r>
              <a:rPr lang="en-US" altLang="ko-KR" sz="2000"/>
              <a:t>skipping</a:t>
            </a:r>
            <a:r>
              <a:rPr lang="ko-KR" altLang="en-US" sz="2000"/>
              <a:t>하는 것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81129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FCF50F78-0D91-4474-8508-DF126C498A3A}"/>
              </a:ext>
            </a:extLst>
          </p:cNvPr>
          <p:cNvSpPr txBox="1">
            <a:spLocks/>
          </p:cNvSpPr>
          <p:nvPr/>
        </p:nvSpPr>
        <p:spPr>
          <a:xfrm>
            <a:off x="3513221" y="1780673"/>
            <a:ext cx="5085347" cy="385011"/>
          </a:xfrm>
          <a:prstGeom prst="rect">
            <a:avLst/>
          </a:prstGeom>
          <a:solidFill>
            <a:srgbClr val="FFFF00">
              <a:alpha val="80000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Block</a:t>
            </a:r>
            <a:endParaRPr lang="ko-KR" alt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58C8E-F6B0-411B-ABD8-1B14D00CEBC8}"/>
              </a:ext>
            </a:extLst>
          </p:cNvPr>
          <p:cNvSpPr txBox="1"/>
          <p:nvPr/>
        </p:nvSpPr>
        <p:spPr>
          <a:xfrm>
            <a:off x="3218485" y="1715147"/>
            <a:ext cx="813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Skip Connection </a:t>
            </a:r>
            <a:r>
              <a:rPr lang="en-US" altLang="ko-KR" sz="20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(Shortcut Connection)</a:t>
            </a:r>
            <a:r>
              <a:rPr lang="ko-KR" altLang="en-US" sz="2800">
                <a:solidFill>
                  <a:srgbClr val="C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으로 구현</a:t>
            </a:r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2952137" y="5650103"/>
            <a:ext cx="4090348" cy="1352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Plain layers: original mapping</a:t>
            </a:r>
          </a:p>
          <a:p>
            <a:pPr marL="0" indent="0">
              <a:buNone/>
            </a:pPr>
            <a:r>
              <a:rPr lang="en-US" altLang="ko-KR" sz="2000"/>
              <a:t>Residual block: identity mapping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8BD786-4F0B-43A6-8702-1C322DED1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563" y="2514098"/>
            <a:ext cx="8458200" cy="29527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1A572CA-2F74-459F-97AD-45487EF5EC1A}"/>
              </a:ext>
            </a:extLst>
          </p:cNvPr>
          <p:cNvSpPr/>
          <p:nvPr/>
        </p:nvSpPr>
        <p:spPr>
          <a:xfrm>
            <a:off x="10728138" y="6163998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출처</a:t>
            </a:r>
            <a:r>
              <a:rPr lang="en-US" altLang="ko-KR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CS231n</a:t>
            </a:r>
          </a:p>
        </p:txBody>
      </p:sp>
    </p:spTree>
    <p:extLst>
      <p:ext uri="{BB962C8B-B14F-4D97-AF65-F5344CB8AC3E}">
        <p14:creationId xmlns:p14="http://schemas.microsoft.com/office/powerpoint/2010/main" val="346710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02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Introduction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Learning</a:t>
            </a:r>
            <a:r>
              <a:rPr lang="ko-KR" altLang="en-US" sz="2800"/>
              <a:t>의 장점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1. Vanishing Gradient </a:t>
            </a:r>
            <a:r>
              <a:rPr lang="ko-KR" altLang="en-US" sz="2000"/>
              <a:t>문제 해결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r>
              <a:rPr lang="en-US" altLang="ko-KR" sz="2000"/>
              <a:t>- </a:t>
            </a:r>
            <a:r>
              <a:rPr lang="ko-KR" altLang="en-US" sz="2000"/>
              <a:t>단순 더하기로 이루어져있기 때문에 </a:t>
            </a:r>
            <a:r>
              <a:rPr lang="en-US" altLang="ko-KR" sz="2000"/>
              <a:t>Backpropagation</a:t>
            </a:r>
            <a:r>
              <a:rPr lang="ko-KR" altLang="en-US" sz="2000"/>
              <a:t>의 </a:t>
            </a:r>
            <a:r>
              <a:rPr lang="en-US" altLang="ko-KR" sz="2000"/>
              <a:t>gradient</a:t>
            </a:r>
            <a:r>
              <a:rPr lang="ko-KR" altLang="en-US" sz="2000"/>
              <a:t>가 </a:t>
            </a:r>
            <a:r>
              <a:rPr lang="en-US" altLang="ko-KR" sz="2000"/>
              <a:t>1</a:t>
            </a:r>
            <a:r>
              <a:rPr lang="ko-KR" altLang="en-US" sz="2000"/>
              <a:t>이 되고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en-US" altLang="ko-KR" sz="2000"/>
              <a:t>   </a:t>
            </a:r>
            <a:r>
              <a:rPr lang="ko-KR" altLang="en-US" sz="2000"/>
              <a:t>이는 </a:t>
            </a:r>
            <a:r>
              <a:rPr lang="en-US" altLang="ko-KR" sz="2000"/>
              <a:t>Output</a:t>
            </a:r>
            <a:r>
              <a:rPr lang="ko-KR" altLang="en-US" sz="2000"/>
              <a:t>에서 </a:t>
            </a:r>
            <a:r>
              <a:rPr lang="en-US" altLang="ko-KR" sz="2000"/>
              <a:t>Input</a:t>
            </a:r>
            <a:r>
              <a:rPr lang="ko-KR" altLang="en-US" sz="2000"/>
              <a:t>에 가까운 </a:t>
            </a:r>
            <a:r>
              <a:rPr lang="en-US" altLang="ko-KR" sz="2000"/>
              <a:t>Layer</a:t>
            </a:r>
            <a:r>
              <a:rPr lang="ko-KR" altLang="en-US" sz="2000"/>
              <a:t>까지의 </a:t>
            </a:r>
            <a:r>
              <a:rPr lang="en-US" altLang="ko-KR" sz="2000"/>
              <a:t>Loss</a:t>
            </a:r>
            <a:r>
              <a:rPr lang="ko-KR" altLang="en-US" sz="2000"/>
              <a:t>가 </a:t>
            </a:r>
            <a:r>
              <a:rPr lang="en-US" altLang="ko-KR" sz="2000"/>
              <a:t>0</a:t>
            </a:r>
            <a:r>
              <a:rPr lang="ko-KR" altLang="en-US" sz="2000"/>
              <a:t>이 안되게 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2. </a:t>
            </a:r>
            <a:r>
              <a:rPr lang="ko-KR" altLang="en-US" sz="2000"/>
              <a:t>계산 비용 </a:t>
            </a:r>
            <a:r>
              <a:rPr lang="en-US" altLang="ko-KR" sz="2000"/>
              <a:t>x!</a:t>
            </a:r>
          </a:p>
          <a:p>
            <a:pPr marL="0" indent="0">
              <a:buNone/>
            </a:pPr>
            <a:r>
              <a:rPr lang="ko-KR" altLang="en-US" sz="2000"/>
              <a:t>   추가 </a:t>
            </a:r>
            <a:r>
              <a:rPr lang="en-US" altLang="ko-KR" sz="2000"/>
              <a:t>Parameter x!</a:t>
            </a:r>
          </a:p>
          <a:p>
            <a:pPr marL="0" indent="0">
              <a:buNone/>
            </a:pPr>
            <a:r>
              <a:rPr lang="en-US" altLang="ko-KR" sz="2000"/>
              <a:t>- </a:t>
            </a:r>
            <a:r>
              <a:rPr lang="ko-KR" altLang="en-US" sz="2000"/>
              <a:t>단순 더하기이므로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3. Residual Network</a:t>
            </a:r>
            <a:r>
              <a:rPr lang="ko-KR" altLang="en-US" sz="2000"/>
              <a:t>의 경우 깊어져도 성능을 높일 수 있어 </a:t>
            </a:r>
            <a:r>
              <a:rPr lang="en-US" altLang="ko-KR" sz="2000"/>
              <a:t>degradation </a:t>
            </a:r>
            <a:r>
              <a:rPr lang="ko-KR" altLang="en-US" sz="2000"/>
              <a:t>문제 해결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192979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1A5D8998-3968-48F0-A71F-571458C76018}"/>
              </a:ext>
            </a:extLst>
          </p:cNvPr>
          <p:cNvSpPr txBox="1">
            <a:spLocks/>
          </p:cNvSpPr>
          <p:nvPr/>
        </p:nvSpPr>
        <p:spPr>
          <a:xfrm>
            <a:off x="3354573" y="3401548"/>
            <a:ext cx="8626378" cy="70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84B8BCE-D08E-4808-B7A8-A3B3155E0C90}"/>
              </a:ext>
            </a:extLst>
          </p:cNvPr>
          <p:cNvSpPr/>
          <p:nvPr/>
        </p:nvSpPr>
        <p:spPr>
          <a:xfrm rot="16200000">
            <a:off x="-2153920" y="2661920"/>
            <a:ext cx="6350000" cy="2042160"/>
          </a:xfrm>
          <a:custGeom>
            <a:avLst/>
            <a:gdLst>
              <a:gd name="connsiteX0" fmla="*/ 4804816 w 4804816"/>
              <a:gd name="connsiteY0" fmla="*/ 0 h 1400970"/>
              <a:gd name="connsiteX1" fmla="*/ 4804816 w 4804816"/>
              <a:gd name="connsiteY1" fmla="*/ 984813 h 1400970"/>
              <a:gd name="connsiteX2" fmla="*/ 4376936 w 4804816"/>
              <a:gd name="connsiteY2" fmla="*/ 1400970 h 1400970"/>
              <a:gd name="connsiteX3" fmla="*/ 0 w 4804816"/>
              <a:gd name="connsiteY3" fmla="*/ 1400970 h 1400970"/>
              <a:gd name="connsiteX4" fmla="*/ 0 w 4804816"/>
              <a:gd name="connsiteY4" fmla="*/ 0 h 140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4816" h="1400970">
                <a:moveTo>
                  <a:pt x="4804816" y="0"/>
                </a:moveTo>
                <a:lnTo>
                  <a:pt x="4804816" y="984813"/>
                </a:lnTo>
                <a:cubicBezTo>
                  <a:pt x="4804816" y="1214650"/>
                  <a:pt x="4613247" y="1400970"/>
                  <a:pt x="4376936" y="1400970"/>
                </a:cubicBezTo>
                <a:lnTo>
                  <a:pt x="0" y="140097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C6F52-6F77-4831-BC0D-EC58C3AB448D}"/>
              </a:ext>
            </a:extLst>
          </p:cNvPr>
          <p:cNvSpPr/>
          <p:nvPr/>
        </p:nvSpPr>
        <p:spPr>
          <a:xfrm rot="5400000">
            <a:off x="-1806802" y="3466241"/>
            <a:ext cx="63744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0" spc="6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Contents</a:t>
            </a:r>
            <a:endParaRPr lang="ko-KR" altLang="en-US" sz="8000" spc="600">
              <a:solidFill>
                <a:schemeClr val="bg1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81D24A-4D8F-44B9-ACFB-4495BCABF5AE}"/>
              </a:ext>
            </a:extLst>
          </p:cNvPr>
          <p:cNvCxnSpPr>
            <a:cxnSpLocks/>
          </p:cNvCxnSpPr>
          <p:nvPr/>
        </p:nvCxnSpPr>
        <p:spPr>
          <a:xfrm>
            <a:off x="3326160" y="1472615"/>
            <a:ext cx="886584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D52862-8BED-4B68-8FDF-6A99084D37F9}"/>
              </a:ext>
            </a:extLst>
          </p:cNvPr>
          <p:cNvGrpSpPr/>
          <p:nvPr/>
        </p:nvGrpSpPr>
        <p:grpSpPr>
          <a:xfrm>
            <a:off x="3326160" y="2548409"/>
            <a:ext cx="8865840" cy="704706"/>
            <a:chOff x="2411760" y="1347614"/>
            <a:chExt cx="9780240" cy="704706"/>
          </a:xfrm>
        </p:grpSpPr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7A5C544E-43CC-4D28-A824-52BD8E464588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02 </a:t>
              </a:r>
              <a:r>
                <a:rPr lang="ko-KR" altLang="en-US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Introduction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F14E9BF-2023-4CC2-8B3B-4D3412F8D5CA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A534-3615-433E-9FEE-51361DD55D2A}"/>
              </a:ext>
            </a:extLst>
          </p:cNvPr>
          <p:cNvGrpSpPr/>
          <p:nvPr/>
        </p:nvGrpSpPr>
        <p:grpSpPr>
          <a:xfrm>
            <a:off x="3326160" y="3428499"/>
            <a:ext cx="8865840" cy="704706"/>
            <a:chOff x="2411760" y="1347614"/>
            <a:chExt cx="9780240" cy="704706"/>
          </a:xfrm>
        </p:grpSpPr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1A7530AE-9758-4C4A-A159-87D760396B00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03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94FE288-FAAD-43D9-8AC1-7D319C65D730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C6B1281-EA45-4694-88A8-FDC1F6E1CE2D}"/>
              </a:ext>
            </a:extLst>
          </p:cNvPr>
          <p:cNvGrpSpPr/>
          <p:nvPr/>
        </p:nvGrpSpPr>
        <p:grpSpPr>
          <a:xfrm>
            <a:off x="3326160" y="4308589"/>
            <a:ext cx="8865840" cy="704706"/>
            <a:chOff x="2411760" y="1347614"/>
            <a:chExt cx="9780240" cy="704706"/>
          </a:xfrm>
        </p:grpSpPr>
        <p:sp>
          <p:nvSpPr>
            <p:cNvPr id="53" name="제목 1">
              <a:extLst>
                <a:ext uri="{FF2B5EF4-FFF2-40B4-BE49-F238E27FC236}">
                  <a16:creationId xmlns:a16="http://schemas.microsoft.com/office/drawing/2014/main" id="{FADE99C0-471E-4EA4-9B0F-AD95B8DEB907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04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Experiments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EF71443-2C50-4C95-8F67-D1353A25E15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335448-89CB-41FD-9A03-AA20BC2304AB}"/>
              </a:ext>
            </a:extLst>
          </p:cNvPr>
          <p:cNvCxnSpPr>
            <a:cxnSpLocks/>
          </p:cNvCxnSpPr>
          <p:nvPr/>
        </p:nvCxnSpPr>
        <p:spPr>
          <a:xfrm>
            <a:off x="3326160" y="2363566"/>
            <a:ext cx="8865840" cy="0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A98CDBE3-606F-4F20-9F8A-3B2437440D4D}"/>
              </a:ext>
            </a:extLst>
          </p:cNvPr>
          <p:cNvSpPr txBox="1">
            <a:spLocks/>
          </p:cNvSpPr>
          <p:nvPr/>
        </p:nvSpPr>
        <p:spPr>
          <a:xfrm>
            <a:off x="3326160" y="1668319"/>
            <a:ext cx="8626378" cy="70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 01 </a:t>
            </a:r>
            <a:r>
              <a: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12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Residual Learning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앞에서도 이야기했듯이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깊은 층을 쌓아서 생기는 성능 저하 문제를 해결하기 위해서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stacked layer</a:t>
            </a:r>
            <a:r>
              <a:rPr lang="ko-KR" altLang="en-US" sz="2000"/>
              <a:t>를 </a:t>
            </a:r>
            <a:r>
              <a:rPr lang="en-US" altLang="ko-KR" sz="2000"/>
              <a:t>F(x) := H(x) – x</a:t>
            </a:r>
            <a:r>
              <a:rPr lang="ko-KR" altLang="en-US" sz="2000"/>
              <a:t>에 </a:t>
            </a:r>
            <a:r>
              <a:rPr lang="en-US" altLang="ko-KR" sz="2000"/>
              <a:t>mapping</a:t>
            </a:r>
            <a:r>
              <a:rPr lang="ko-KR" altLang="en-US" sz="2000"/>
              <a:t>하여 </a:t>
            </a:r>
            <a:r>
              <a:rPr lang="en-US" altLang="ko-KR" sz="2000"/>
              <a:t>original mapping</a:t>
            </a:r>
            <a:r>
              <a:rPr lang="ko-KR" altLang="en-US" sz="2000"/>
              <a:t>을 </a:t>
            </a:r>
            <a:r>
              <a:rPr lang="en-US" altLang="ko-KR" sz="2000"/>
              <a:t>F(x) + x</a:t>
            </a:r>
            <a:r>
              <a:rPr lang="ko-KR" altLang="en-US" sz="2000"/>
              <a:t>로 설정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H(x)</a:t>
            </a:r>
            <a:r>
              <a:rPr lang="ko-KR" altLang="en-US" sz="2000"/>
              <a:t>가 여러 비선형 </a:t>
            </a:r>
            <a:r>
              <a:rPr lang="en-US" altLang="ko-KR" sz="2000"/>
              <a:t>layer</a:t>
            </a:r>
            <a:r>
              <a:rPr lang="ko-KR" altLang="en-US" sz="2000"/>
              <a:t>로 이루어져 복잡한 함수에 근사한다고 가정할 때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여기에서 </a:t>
            </a:r>
            <a:r>
              <a:rPr lang="en-US" altLang="ko-KR" sz="2000"/>
              <a:t>H(x)</a:t>
            </a:r>
            <a:r>
              <a:rPr lang="ko-KR" altLang="en-US" sz="2000"/>
              <a:t>를 학습하는 대신 </a:t>
            </a:r>
            <a:r>
              <a:rPr lang="en-US" altLang="ko-KR" sz="2000">
                <a:solidFill>
                  <a:srgbClr val="C00000"/>
                </a:solidFill>
              </a:rPr>
              <a:t>H(x) – x = F(x)</a:t>
            </a:r>
            <a:r>
              <a:rPr lang="ko-KR" altLang="en-US" sz="2000">
                <a:solidFill>
                  <a:srgbClr val="C00000"/>
                </a:solidFill>
              </a:rPr>
              <a:t>를 학습하는 것이 더 쉬울 것</a:t>
            </a:r>
            <a:r>
              <a:rPr lang="ko-KR" altLang="en-US" sz="2000"/>
              <a:t>이라고 가정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21028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Identity mapping by Shortcuts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stacked layers</a:t>
            </a:r>
            <a:r>
              <a:rPr lang="ko-KR" altLang="en-US" sz="2000"/>
              <a:t>마다 </a:t>
            </a:r>
            <a:r>
              <a:rPr lang="en-US" altLang="ko-KR" sz="2000"/>
              <a:t>residual learning</a:t>
            </a:r>
            <a:r>
              <a:rPr lang="ko-KR" altLang="en-US" sz="2000"/>
              <a:t>을 사용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                                                                         (x:input, y:output, F: residual mapping) 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위에서 </a:t>
            </a:r>
            <a:r>
              <a:rPr lang="en-US" altLang="ko-KR" sz="2000"/>
              <a:t>F + x</a:t>
            </a:r>
            <a:r>
              <a:rPr lang="ko-KR" altLang="en-US" sz="2000"/>
              <a:t> 연산에서 둘의 </a:t>
            </a:r>
            <a:r>
              <a:rPr lang="en-US" altLang="ko-KR" sz="2000"/>
              <a:t>dimension</a:t>
            </a:r>
            <a:r>
              <a:rPr lang="ko-KR" altLang="en-US" sz="2000"/>
              <a:t>이 같아야 하며</a:t>
            </a:r>
            <a:r>
              <a:rPr lang="en-US" altLang="ko-KR" sz="2000"/>
              <a:t>, </a:t>
            </a:r>
            <a:r>
              <a:rPr lang="ko-KR" altLang="en-US" sz="2000"/>
              <a:t>이를 위해 </a:t>
            </a:r>
            <a:r>
              <a:rPr lang="en-US" altLang="ko-KR" sz="2000"/>
              <a:t>linear projection Ws </a:t>
            </a:r>
            <a:r>
              <a:rPr lang="ko-KR" altLang="en-US" sz="2000"/>
              <a:t>수행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첫번째 식에서 </a:t>
            </a:r>
            <a:r>
              <a:rPr lang="en-US" altLang="ko-KR" sz="2000"/>
              <a:t>Ws</a:t>
            </a:r>
            <a:r>
              <a:rPr lang="ko-KR" altLang="en-US" sz="2000"/>
              <a:t>를 사용할 수 있으나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 </a:t>
            </a:r>
            <a:r>
              <a:rPr lang="en-US" altLang="ko-KR" sz="2000"/>
              <a:t>identity mapping</a:t>
            </a:r>
            <a:r>
              <a:rPr lang="ko-KR" altLang="en-US" sz="2000"/>
              <a:t>만으로 충분하다는 것을 실험을 통해 보여준다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/>
              <a:t>따라서 </a:t>
            </a:r>
            <a:r>
              <a:rPr lang="en-US" altLang="ko-KR" sz="2000"/>
              <a:t>Ws</a:t>
            </a:r>
            <a:r>
              <a:rPr lang="ko-KR" altLang="en-US" sz="2000"/>
              <a:t>는 </a:t>
            </a:r>
            <a:r>
              <a:rPr lang="en-US" altLang="ko-KR" sz="2000"/>
              <a:t>dimension matching</a:t>
            </a:r>
            <a:r>
              <a:rPr lang="ko-KR" altLang="en-US" sz="2000"/>
              <a:t>의 용도로만 사용한다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0BE41B-AF57-482D-8081-9E9DEE9A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31" y="2780298"/>
            <a:ext cx="2835801" cy="5564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96E962-C6A6-425F-AA8E-73512C83B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860" y="4095249"/>
            <a:ext cx="3096950" cy="57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4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Identity mapping by Shortcuts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4170947" y="2759241"/>
            <a:ext cx="7154779" cy="3796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왼쪽의 경우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shortcut</a:t>
            </a:r>
            <a:r>
              <a:rPr lang="ko-KR" altLang="en-US" sz="2000"/>
              <a:t>을 통한 </a:t>
            </a:r>
            <a:r>
              <a:rPr lang="en-US" altLang="ko-KR" sz="2000"/>
              <a:t>output</a:t>
            </a:r>
            <a:r>
              <a:rPr lang="ko-KR" altLang="en-US" sz="2000"/>
              <a:t>은 </a:t>
            </a:r>
            <a:r>
              <a:rPr lang="en-US" altLang="ko-KR" sz="2000">
                <a:solidFill>
                  <a:srgbClr val="C00000"/>
                </a:solidFill>
              </a:rPr>
              <a:t>1</a:t>
            </a:r>
            <a:r>
              <a:rPr lang="ko-KR" altLang="en-US" sz="2000">
                <a:solidFill>
                  <a:srgbClr val="C00000"/>
                </a:solidFill>
              </a:rPr>
              <a:t>*</a:t>
            </a:r>
            <a:r>
              <a:rPr lang="en-US" altLang="ko-KR" sz="2000">
                <a:solidFill>
                  <a:srgbClr val="C00000"/>
                </a:solidFill>
              </a:rPr>
              <a:t>4</a:t>
            </a:r>
          </a:p>
          <a:p>
            <a:pPr marL="0" indent="0">
              <a:buNone/>
            </a:pPr>
            <a:r>
              <a:rPr lang="en-US" altLang="ko-KR" sz="2000"/>
              <a:t>2-layer</a:t>
            </a:r>
            <a:r>
              <a:rPr lang="ko-KR" altLang="en-US" sz="2000"/>
              <a:t>을 통한 </a:t>
            </a:r>
            <a:r>
              <a:rPr lang="en-US" altLang="ko-KR" sz="2000"/>
              <a:t>output</a:t>
            </a:r>
            <a:r>
              <a:rPr lang="ko-KR" altLang="en-US" sz="2000"/>
              <a:t>은 </a:t>
            </a:r>
            <a:r>
              <a:rPr lang="en-US" altLang="ko-KR" sz="2000">
                <a:solidFill>
                  <a:srgbClr val="C00000"/>
                </a:solidFill>
              </a:rPr>
              <a:t>1</a:t>
            </a:r>
            <a:r>
              <a:rPr lang="ko-KR" altLang="en-US" sz="2000">
                <a:solidFill>
                  <a:srgbClr val="C00000"/>
                </a:solidFill>
              </a:rPr>
              <a:t>*</a:t>
            </a:r>
            <a:r>
              <a:rPr lang="en-US" altLang="ko-KR" sz="2000">
                <a:solidFill>
                  <a:srgbClr val="C00000"/>
                </a:solidFill>
              </a:rPr>
              <a:t>8</a:t>
            </a:r>
            <a:r>
              <a:rPr lang="ko-KR" altLang="en-US" sz="2000"/>
              <a:t>로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dimension</a:t>
            </a:r>
            <a:r>
              <a:rPr lang="ko-KR" altLang="en-US" sz="2000"/>
              <a:t>이 다르기 때문에 덧셈을 할 수 없다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28A675-4F23-4C35-8867-28C063C3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8" y="2342147"/>
            <a:ext cx="3424572" cy="41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88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Identity mapping by Shortcuts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561475" y="2759241"/>
            <a:ext cx="10764252" cy="3796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따라서</a:t>
            </a:r>
            <a:r>
              <a:rPr lang="en-US" altLang="ko-KR" sz="2000"/>
              <a:t> </a:t>
            </a:r>
            <a:r>
              <a:rPr lang="ko-KR" altLang="en-US" sz="2000"/>
              <a:t>다른 </a:t>
            </a:r>
            <a:r>
              <a:rPr lang="en-US" altLang="ko-KR" sz="2000"/>
              <a:t>dimension</a:t>
            </a:r>
            <a:r>
              <a:rPr lang="ko-KR" altLang="en-US" sz="2000"/>
              <a:t>을 맞추기 위해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projection</a:t>
            </a:r>
            <a:r>
              <a:rPr lang="ko-KR" altLang="en-US" sz="2000"/>
              <a:t>의 과정을 거쳐 덧셈을 진행한다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BDCAD1-F7B9-4FC2-B47C-4D76FD0E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52" y="2229853"/>
            <a:ext cx="4419419" cy="4066672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2E188E-E8C2-43E1-9A66-5338679A6F71}"/>
              </a:ext>
            </a:extLst>
          </p:cNvPr>
          <p:cNvCxnSpPr/>
          <p:nvPr/>
        </p:nvCxnSpPr>
        <p:spPr>
          <a:xfrm>
            <a:off x="9609221" y="3416968"/>
            <a:ext cx="9144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8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Network Architectures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ImageNet</a:t>
            </a:r>
            <a:r>
              <a:rPr lang="ko-KR" altLang="en-US" sz="2000"/>
              <a:t>의 </a:t>
            </a:r>
            <a:r>
              <a:rPr lang="en-US" altLang="ko-KR" sz="2000"/>
              <a:t>data</a:t>
            </a:r>
            <a:r>
              <a:rPr lang="ko-KR" altLang="en-US" sz="2000"/>
              <a:t>를 이용해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Plain network</a:t>
            </a:r>
            <a:r>
              <a:rPr lang="ko-KR" altLang="en-US" sz="2000"/>
              <a:t>와 </a:t>
            </a:r>
            <a:r>
              <a:rPr lang="en-US" altLang="ko-KR" sz="2000"/>
              <a:t>residual</a:t>
            </a:r>
            <a:r>
              <a:rPr lang="ko-KR" altLang="en-US" sz="2000"/>
              <a:t> </a:t>
            </a:r>
            <a:r>
              <a:rPr lang="en-US" altLang="ko-KR" sz="2000"/>
              <a:t>network </a:t>
            </a:r>
            <a:r>
              <a:rPr lang="ko-KR" altLang="en-US" sz="2000"/>
              <a:t>비교</a:t>
            </a:r>
            <a:endParaRPr lang="en-US" altLang="ko-KR" sz="2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0152EC-7DDB-49D4-B91B-804C455FC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31" y="0"/>
            <a:ext cx="3090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66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1. Plain Network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VGGNet</a:t>
            </a:r>
            <a:r>
              <a:rPr lang="ko-KR" altLang="en-US" sz="2000"/>
              <a:t>의 영향을 많이 받음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conv layer</a:t>
            </a:r>
            <a:r>
              <a:rPr lang="ko-KR" altLang="en-US" sz="2000"/>
              <a:t>는 </a:t>
            </a:r>
            <a:r>
              <a:rPr lang="en-US" altLang="ko-KR" sz="2000"/>
              <a:t>3</a:t>
            </a:r>
            <a:r>
              <a:rPr lang="ko-KR" altLang="en-US" sz="2000"/>
              <a:t>*</a:t>
            </a:r>
            <a:r>
              <a:rPr lang="en-US" altLang="ko-KR" sz="2000"/>
              <a:t>3</a:t>
            </a:r>
            <a:r>
              <a:rPr lang="ko-KR" altLang="en-US" sz="2000"/>
              <a:t>의 </a:t>
            </a:r>
            <a:r>
              <a:rPr lang="en-US" altLang="ko-KR" sz="2000"/>
              <a:t>filter</a:t>
            </a:r>
            <a:r>
              <a:rPr lang="ko-KR" altLang="en-US" sz="2000"/>
              <a:t>를 가지며 두 가지의 규칙에 의해 </a:t>
            </a:r>
            <a:r>
              <a:rPr lang="en-US" altLang="ko-KR" sz="2000"/>
              <a:t>design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1) </a:t>
            </a:r>
            <a:r>
              <a:rPr lang="ko-KR" altLang="en-US" sz="2000"/>
              <a:t>동일한 </a:t>
            </a:r>
            <a:r>
              <a:rPr lang="en-US" altLang="ko-KR" sz="2000"/>
              <a:t>output feature map size</a:t>
            </a:r>
            <a:r>
              <a:rPr lang="ko-KR" altLang="en-US" sz="2000"/>
              <a:t>에 대해</a:t>
            </a:r>
            <a:r>
              <a:rPr lang="en-US" altLang="ko-KR" sz="2000"/>
              <a:t>, layer</a:t>
            </a:r>
            <a:r>
              <a:rPr lang="ko-KR" altLang="en-US" sz="2000"/>
              <a:t>는 동일한 </a:t>
            </a:r>
            <a:r>
              <a:rPr lang="en-US" altLang="ko-KR" sz="2000"/>
              <a:t>filter </a:t>
            </a:r>
            <a:r>
              <a:rPr lang="ko-KR" altLang="en-US" sz="2000"/>
              <a:t>수를 가진다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2) feature map size</a:t>
            </a:r>
            <a:r>
              <a:rPr lang="ko-KR" altLang="en-US" sz="2000"/>
              <a:t>가 절반인 경우</a:t>
            </a:r>
            <a:r>
              <a:rPr lang="en-US" altLang="ko-KR" sz="2000"/>
              <a:t>, </a:t>
            </a:r>
          </a:p>
          <a:p>
            <a:pPr marL="0" indent="0">
              <a:buNone/>
            </a:pPr>
            <a:r>
              <a:rPr lang="en-US" altLang="ko-KR" sz="2000"/>
              <a:t>     layer</a:t>
            </a:r>
            <a:r>
              <a:rPr lang="ko-KR" altLang="en-US" sz="2000"/>
              <a:t>당 시간복잡도를 보존하기 위해 </a:t>
            </a:r>
            <a:r>
              <a:rPr lang="en-US" altLang="ko-KR" sz="2000"/>
              <a:t>filter</a:t>
            </a:r>
            <a:r>
              <a:rPr lang="ko-KR" altLang="en-US" sz="2000"/>
              <a:t>의 수를 </a:t>
            </a:r>
            <a:r>
              <a:rPr lang="en-US" altLang="ko-KR" sz="2000"/>
              <a:t>2</a:t>
            </a:r>
            <a:r>
              <a:rPr lang="ko-KR" altLang="en-US" sz="2000"/>
              <a:t>배로 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stride=2</a:t>
            </a:r>
            <a:r>
              <a:rPr lang="ko-KR" altLang="en-US" sz="2000"/>
              <a:t>인 </a:t>
            </a:r>
            <a:r>
              <a:rPr lang="en-US" altLang="ko-KR" sz="2000"/>
              <a:t>conv layer</a:t>
            </a:r>
            <a:r>
              <a:rPr lang="ko-KR" altLang="en-US" sz="2000"/>
              <a:t>를 통해 </a:t>
            </a:r>
            <a:r>
              <a:rPr lang="en-US" altLang="ko-KR" sz="2000"/>
              <a:t>downsampling</a:t>
            </a:r>
          </a:p>
          <a:p>
            <a:pPr marL="0" indent="0">
              <a:buNone/>
            </a:pPr>
            <a:r>
              <a:rPr lang="en-US" altLang="ko-KR" sz="2000"/>
              <a:t>network</a:t>
            </a:r>
            <a:r>
              <a:rPr lang="ko-KR" altLang="en-US" sz="2000"/>
              <a:t>의 마지막에는 </a:t>
            </a:r>
            <a:r>
              <a:rPr lang="en-US" altLang="ko-KR" sz="2000"/>
              <a:t>1000-way FC layer</a:t>
            </a:r>
            <a:r>
              <a:rPr lang="ko-KR" altLang="en-US" sz="2000"/>
              <a:t>로 구성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71281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2. Residual Network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plain network</a:t>
            </a:r>
            <a:r>
              <a:rPr lang="ko-KR" altLang="en-US" sz="2000"/>
              <a:t>를 기반으로 </a:t>
            </a:r>
            <a:r>
              <a:rPr lang="en-US" altLang="ko-KR" sz="2000">
                <a:solidFill>
                  <a:srgbClr val="C00000"/>
                </a:solidFill>
              </a:rPr>
              <a:t>short connection </a:t>
            </a:r>
            <a:r>
              <a:rPr lang="ko-KR" altLang="en-US" sz="2000"/>
              <a:t>삽입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identity shortcut</a:t>
            </a:r>
            <a:r>
              <a:rPr lang="ko-KR" altLang="en-US" sz="2000"/>
              <a:t>은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- input</a:t>
            </a:r>
            <a:r>
              <a:rPr lang="ko-KR" altLang="en-US" sz="2000"/>
              <a:t>과 </a:t>
            </a:r>
            <a:r>
              <a:rPr lang="en-US" altLang="ko-KR" sz="2000"/>
              <a:t>output</a:t>
            </a:r>
            <a:r>
              <a:rPr lang="ko-KR" altLang="en-US" sz="2000"/>
              <a:t>이 동일한 </a:t>
            </a:r>
            <a:r>
              <a:rPr lang="en-US" altLang="ko-KR" sz="2000"/>
              <a:t>dimension</a:t>
            </a:r>
            <a:r>
              <a:rPr lang="ko-KR" altLang="en-US" sz="2000"/>
              <a:t>인 경우에는</a:t>
            </a:r>
            <a:r>
              <a:rPr lang="en-US" altLang="ko-KR" sz="2000"/>
              <a:t>,</a:t>
            </a:r>
            <a:r>
              <a:rPr lang="ko-KR" altLang="en-US" sz="2000"/>
              <a:t> 바로 사용된다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- input</a:t>
            </a:r>
            <a:r>
              <a:rPr lang="ko-KR" altLang="en-US" sz="2000"/>
              <a:t>과 </a:t>
            </a:r>
            <a:r>
              <a:rPr lang="en-US" altLang="ko-KR" sz="2000"/>
              <a:t>output</a:t>
            </a:r>
            <a:r>
              <a:rPr lang="ko-KR" altLang="en-US" sz="2000"/>
              <a:t>이 동일하지 않을 때에는 </a:t>
            </a:r>
            <a:r>
              <a:rPr lang="en-US" altLang="ko-KR" sz="2000"/>
              <a:t>(</a:t>
            </a:r>
            <a:r>
              <a:rPr lang="ko-KR" altLang="en-US" sz="2000"/>
              <a:t>증가할 때에는</a:t>
            </a:r>
            <a:r>
              <a:rPr lang="en-US" altLang="ko-KR" sz="2000"/>
              <a:t>),</a:t>
            </a:r>
          </a:p>
          <a:p>
            <a:pPr marL="0" indent="0">
              <a:buNone/>
            </a:pPr>
            <a:r>
              <a:rPr lang="en-US" altLang="ko-KR" sz="2000"/>
              <a:t>  1) zero padding</a:t>
            </a:r>
            <a:r>
              <a:rPr lang="ko-KR" altLang="en-US" sz="2000"/>
              <a:t>을 추가하여 </a:t>
            </a:r>
            <a:r>
              <a:rPr lang="en-US" altLang="ko-KR" sz="2000"/>
              <a:t>dimension</a:t>
            </a:r>
            <a:r>
              <a:rPr lang="ko-KR" altLang="en-US" sz="2000"/>
              <a:t>을 맞춘 후 </a:t>
            </a:r>
            <a:r>
              <a:rPr lang="en-US" altLang="ko-KR" sz="2000"/>
              <a:t>identity mapping </a:t>
            </a:r>
            <a:r>
              <a:rPr lang="ko-KR" altLang="en-US" sz="2000"/>
              <a:t>수행한다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2) projection</a:t>
            </a:r>
            <a:r>
              <a:rPr lang="ko-KR" altLang="en-US" sz="2000"/>
              <a:t>을 통해 </a:t>
            </a:r>
            <a:r>
              <a:rPr lang="en-US" altLang="ko-KR" sz="2000"/>
              <a:t>dimension</a:t>
            </a:r>
            <a:r>
              <a:rPr lang="ko-KR" altLang="en-US" sz="2000"/>
              <a:t>을 맞춰준다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4097893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03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Deep Residual Learning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Implementation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- Data Augmentation</a:t>
            </a:r>
            <a:r>
              <a:rPr lang="ko-KR" altLang="en-US" sz="2000"/>
              <a:t>으로 </a:t>
            </a:r>
            <a:r>
              <a:rPr lang="en-US" altLang="ko-KR" sz="2000"/>
              <a:t>standard color augmentation </a:t>
            </a:r>
            <a:r>
              <a:rPr lang="ko-KR" altLang="en-US" sz="2000"/>
              <a:t>사용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- </a:t>
            </a:r>
            <a:r>
              <a:rPr lang="ko-KR" altLang="en-US" sz="2000"/>
              <a:t>각각의 </a:t>
            </a:r>
            <a:r>
              <a:rPr lang="en-US" altLang="ko-KR" sz="2000"/>
              <a:t>conv layer</a:t>
            </a:r>
            <a:r>
              <a:rPr lang="ko-KR" altLang="en-US" sz="2000"/>
              <a:t>와 </a:t>
            </a:r>
            <a:r>
              <a:rPr lang="en-US" altLang="ko-KR" sz="2000"/>
              <a:t>activation </a:t>
            </a:r>
            <a:r>
              <a:rPr lang="ko-KR" altLang="en-US" sz="2000"/>
              <a:t>사이에 </a:t>
            </a:r>
            <a:r>
              <a:rPr lang="en-US" altLang="ko-KR" sz="2000"/>
              <a:t>batch normalization </a:t>
            </a:r>
            <a:r>
              <a:rPr lang="ko-KR" altLang="en-US" sz="2000"/>
              <a:t>사용하며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 he initialization</a:t>
            </a:r>
            <a:r>
              <a:rPr lang="ko-KR" altLang="en-US" sz="2000"/>
              <a:t>으로 </a:t>
            </a:r>
            <a:r>
              <a:rPr lang="en-US" altLang="ko-KR" sz="2000"/>
              <a:t>weight </a:t>
            </a:r>
            <a:r>
              <a:rPr lang="ko-KR" altLang="en-US" sz="2000"/>
              <a:t>초기화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- batch normalization</a:t>
            </a:r>
            <a:r>
              <a:rPr lang="ko-KR" altLang="en-US" sz="2000"/>
              <a:t>에 근거하여 </a:t>
            </a:r>
            <a:r>
              <a:rPr lang="en-US" altLang="ko-KR" sz="2000"/>
              <a:t>dropout </a:t>
            </a:r>
            <a:r>
              <a:rPr lang="ko-KR" altLang="en-US" sz="2000"/>
              <a:t>사용 </a:t>
            </a:r>
            <a:r>
              <a:rPr lang="en-US" altLang="ko-KR" sz="2000"/>
              <a:t>x</a:t>
            </a:r>
          </a:p>
          <a:p>
            <a:pPr marL="0" indent="0">
              <a:buNone/>
            </a:pPr>
            <a:r>
              <a:rPr lang="en-US" altLang="ko-KR" sz="2000"/>
              <a:t>- SGD</a:t>
            </a:r>
            <a:r>
              <a:rPr lang="ko-KR" altLang="en-US" sz="2000"/>
              <a:t>를 사용하며 </a:t>
            </a:r>
            <a:r>
              <a:rPr lang="en-US" altLang="ko-KR" sz="2000"/>
              <a:t>learning rate</a:t>
            </a:r>
            <a:r>
              <a:rPr lang="ko-KR" altLang="en-US" sz="2000"/>
              <a:t>는 </a:t>
            </a:r>
            <a:r>
              <a:rPr lang="en-US" altLang="ko-KR" sz="2000"/>
              <a:t>0.1</a:t>
            </a:r>
            <a:r>
              <a:rPr lang="ko-KR" altLang="en-US" sz="2000"/>
              <a:t>에서 시작하여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 local minimum</a:t>
            </a:r>
            <a:r>
              <a:rPr lang="ko-KR" altLang="en-US" sz="2000"/>
              <a:t>을 만나거나 </a:t>
            </a:r>
            <a:r>
              <a:rPr lang="en-US" altLang="ko-KR" sz="2000"/>
              <a:t>loss</a:t>
            </a:r>
            <a:r>
              <a:rPr lang="ko-KR" altLang="en-US" sz="2000"/>
              <a:t>가 진동하는 경우 </a:t>
            </a:r>
            <a:r>
              <a:rPr lang="en-US" altLang="ko-KR" sz="2000"/>
              <a:t>1/10</a:t>
            </a:r>
            <a:r>
              <a:rPr lang="ko-KR" altLang="en-US" sz="2000"/>
              <a:t>씩 감소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- weight decay = 0.0001, momentum = 0.9</a:t>
            </a:r>
          </a:p>
          <a:p>
            <a:pPr marL="0" indent="0">
              <a:buNone/>
            </a:pPr>
            <a:r>
              <a:rPr lang="en-US" altLang="ko-KR" sz="2000"/>
              <a:t>- mini-batch size = 256, iteration = 60 </a:t>
            </a:r>
            <a:r>
              <a:rPr lang="ko-KR" altLang="en-US" sz="2000"/>
              <a:t>* </a:t>
            </a:r>
            <a:r>
              <a:rPr lang="en-US" altLang="ko-KR" sz="2000"/>
              <a:t>10^4</a:t>
            </a:r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775027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1A5D8998-3968-48F0-A71F-571458C76018}"/>
              </a:ext>
            </a:extLst>
          </p:cNvPr>
          <p:cNvSpPr txBox="1">
            <a:spLocks/>
          </p:cNvSpPr>
          <p:nvPr/>
        </p:nvSpPr>
        <p:spPr>
          <a:xfrm>
            <a:off x="3354573" y="4269451"/>
            <a:ext cx="8626378" cy="70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84B8BCE-D08E-4808-B7A8-A3B3155E0C90}"/>
              </a:ext>
            </a:extLst>
          </p:cNvPr>
          <p:cNvSpPr/>
          <p:nvPr/>
        </p:nvSpPr>
        <p:spPr>
          <a:xfrm rot="16200000">
            <a:off x="-2153920" y="2661920"/>
            <a:ext cx="6350000" cy="2042160"/>
          </a:xfrm>
          <a:custGeom>
            <a:avLst/>
            <a:gdLst>
              <a:gd name="connsiteX0" fmla="*/ 4804816 w 4804816"/>
              <a:gd name="connsiteY0" fmla="*/ 0 h 1400970"/>
              <a:gd name="connsiteX1" fmla="*/ 4804816 w 4804816"/>
              <a:gd name="connsiteY1" fmla="*/ 984813 h 1400970"/>
              <a:gd name="connsiteX2" fmla="*/ 4376936 w 4804816"/>
              <a:gd name="connsiteY2" fmla="*/ 1400970 h 1400970"/>
              <a:gd name="connsiteX3" fmla="*/ 0 w 4804816"/>
              <a:gd name="connsiteY3" fmla="*/ 1400970 h 1400970"/>
              <a:gd name="connsiteX4" fmla="*/ 0 w 4804816"/>
              <a:gd name="connsiteY4" fmla="*/ 0 h 140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4816" h="1400970">
                <a:moveTo>
                  <a:pt x="4804816" y="0"/>
                </a:moveTo>
                <a:lnTo>
                  <a:pt x="4804816" y="984813"/>
                </a:lnTo>
                <a:cubicBezTo>
                  <a:pt x="4804816" y="1214650"/>
                  <a:pt x="4613247" y="1400970"/>
                  <a:pt x="4376936" y="1400970"/>
                </a:cubicBezTo>
                <a:lnTo>
                  <a:pt x="0" y="140097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C6F52-6F77-4831-BC0D-EC58C3AB448D}"/>
              </a:ext>
            </a:extLst>
          </p:cNvPr>
          <p:cNvSpPr/>
          <p:nvPr/>
        </p:nvSpPr>
        <p:spPr>
          <a:xfrm rot="5400000">
            <a:off x="-1806802" y="3466241"/>
            <a:ext cx="63744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0" spc="6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Contents</a:t>
            </a:r>
            <a:endParaRPr lang="ko-KR" altLang="en-US" sz="8000" spc="600">
              <a:solidFill>
                <a:schemeClr val="bg1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81D24A-4D8F-44B9-ACFB-4495BCABF5AE}"/>
              </a:ext>
            </a:extLst>
          </p:cNvPr>
          <p:cNvCxnSpPr>
            <a:cxnSpLocks/>
          </p:cNvCxnSpPr>
          <p:nvPr/>
        </p:nvCxnSpPr>
        <p:spPr>
          <a:xfrm>
            <a:off x="3326160" y="1472615"/>
            <a:ext cx="886584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D52862-8BED-4B68-8FDF-6A99084D37F9}"/>
              </a:ext>
            </a:extLst>
          </p:cNvPr>
          <p:cNvGrpSpPr/>
          <p:nvPr/>
        </p:nvGrpSpPr>
        <p:grpSpPr>
          <a:xfrm>
            <a:off x="3326160" y="2548409"/>
            <a:ext cx="8865840" cy="704706"/>
            <a:chOff x="2411760" y="1347614"/>
            <a:chExt cx="9780240" cy="704706"/>
          </a:xfrm>
        </p:grpSpPr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7A5C544E-43CC-4D28-A824-52BD8E464588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02 </a:t>
              </a:r>
              <a:r>
                <a:rPr lang="ko-KR" altLang="en-US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Introduction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F14E9BF-2023-4CC2-8B3B-4D3412F8D5CA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A534-3615-433E-9FEE-51361DD55D2A}"/>
              </a:ext>
            </a:extLst>
          </p:cNvPr>
          <p:cNvGrpSpPr/>
          <p:nvPr/>
        </p:nvGrpSpPr>
        <p:grpSpPr>
          <a:xfrm>
            <a:off x="3326160" y="3428499"/>
            <a:ext cx="8865840" cy="704706"/>
            <a:chOff x="2411760" y="1347614"/>
            <a:chExt cx="9780240" cy="704706"/>
          </a:xfrm>
        </p:grpSpPr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1A7530AE-9758-4C4A-A159-87D760396B00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03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Deep Residual Learning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94FE288-FAAD-43D9-8AC1-7D319C65D730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C6B1281-EA45-4694-88A8-FDC1F6E1CE2D}"/>
              </a:ext>
            </a:extLst>
          </p:cNvPr>
          <p:cNvGrpSpPr/>
          <p:nvPr/>
        </p:nvGrpSpPr>
        <p:grpSpPr>
          <a:xfrm>
            <a:off x="3326160" y="4308589"/>
            <a:ext cx="8865840" cy="704706"/>
            <a:chOff x="2411760" y="1347614"/>
            <a:chExt cx="9780240" cy="704706"/>
          </a:xfrm>
        </p:grpSpPr>
        <p:sp>
          <p:nvSpPr>
            <p:cNvPr id="53" name="제목 1">
              <a:extLst>
                <a:ext uri="{FF2B5EF4-FFF2-40B4-BE49-F238E27FC236}">
                  <a16:creationId xmlns:a16="http://schemas.microsoft.com/office/drawing/2014/main" id="{FADE99C0-471E-4EA4-9B0F-AD95B8DEB907}"/>
                </a:ext>
              </a:extLst>
            </p:cNvPr>
            <p:cNvSpPr txBox="1">
              <a:spLocks/>
            </p:cNvSpPr>
            <p:nvPr/>
          </p:nvSpPr>
          <p:spPr>
            <a:xfrm>
              <a:off x="2411760" y="1347614"/>
              <a:ext cx="9516080" cy="7047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Unit  04 </a:t>
              </a:r>
              <a:r>
                <a:rPr lang="ko-KR" altLang="en-US" sz="2800" spc="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ㅣ</a:t>
              </a:r>
              <a:r>
                <a:rPr lang="en-US" altLang="ko-KR" sz="2800" spc="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Experiments</a:t>
              </a:r>
              <a:endPara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EF71443-2C50-4C95-8F67-D1353A25E15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2042160"/>
              <a:ext cx="9780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335448-89CB-41FD-9A03-AA20BC2304AB}"/>
              </a:ext>
            </a:extLst>
          </p:cNvPr>
          <p:cNvCxnSpPr>
            <a:cxnSpLocks/>
          </p:cNvCxnSpPr>
          <p:nvPr/>
        </p:nvCxnSpPr>
        <p:spPr>
          <a:xfrm>
            <a:off x="3326160" y="2363566"/>
            <a:ext cx="8865840" cy="0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A98CDBE3-606F-4F20-9F8A-3B2437440D4D}"/>
              </a:ext>
            </a:extLst>
          </p:cNvPr>
          <p:cNvSpPr txBox="1">
            <a:spLocks/>
          </p:cNvSpPr>
          <p:nvPr/>
        </p:nvSpPr>
        <p:spPr>
          <a:xfrm>
            <a:off x="3326160" y="1668319"/>
            <a:ext cx="8626378" cy="70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 01 </a:t>
            </a:r>
            <a:r>
              <a:rPr lang="ko-KR" altLang="en-US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800" spc="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Abstract</a:t>
            </a:r>
            <a:endParaRPr lang="ko-KR" altLang="en-US" sz="2800" spc="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30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ImageNet Classification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/>
              <a:t>1000</a:t>
            </a:r>
            <a:r>
              <a:rPr lang="ko-KR" altLang="en-US" sz="2000"/>
              <a:t>개의 </a:t>
            </a:r>
            <a:r>
              <a:rPr lang="en-US" altLang="ko-KR" sz="2000"/>
              <a:t>class</a:t>
            </a:r>
            <a:r>
              <a:rPr lang="ko-KR" altLang="en-US" sz="2000"/>
              <a:t>를 가진 </a:t>
            </a:r>
            <a:r>
              <a:rPr lang="en-US" altLang="ko-KR" sz="2000"/>
              <a:t>ImageNet 2012 classification dataset </a:t>
            </a:r>
            <a:r>
              <a:rPr lang="ko-KR" altLang="en-US" sz="2000"/>
              <a:t>사용</a:t>
            </a: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314AE9-A320-48A7-864F-1B726DE46F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619"/>
          <a:stretch/>
        </p:blipFill>
        <p:spPr>
          <a:xfrm>
            <a:off x="1008146" y="2884320"/>
            <a:ext cx="10877422" cy="34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1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ImageNet Classification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18 layer,</a:t>
            </a:r>
            <a:r>
              <a:rPr lang="ko-KR" altLang="en-US" sz="2000"/>
              <a:t> </a:t>
            </a:r>
            <a:r>
              <a:rPr lang="en-US" altLang="ko-KR" sz="2000"/>
              <a:t>34</a:t>
            </a:r>
            <a:r>
              <a:rPr lang="ko-KR" altLang="en-US" sz="2000"/>
              <a:t> </a:t>
            </a:r>
            <a:r>
              <a:rPr lang="en-US" altLang="ko-KR" sz="2000"/>
              <a:t>layer</a:t>
            </a:r>
            <a:r>
              <a:rPr lang="ko-KR" altLang="en-US" sz="2000"/>
              <a:t>의 </a:t>
            </a:r>
            <a:r>
              <a:rPr lang="en-US" altLang="ko-KR" sz="2000"/>
              <a:t>plain network</a:t>
            </a:r>
            <a:r>
              <a:rPr lang="ko-KR" altLang="en-US" sz="2000"/>
              <a:t>에서 비교해보면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en-US" altLang="ko-KR" sz="2000"/>
              <a:t>34 layer</a:t>
            </a:r>
            <a:r>
              <a:rPr lang="ko-KR" altLang="en-US" sz="2000"/>
              <a:t>의 </a:t>
            </a:r>
            <a:r>
              <a:rPr lang="en-US" altLang="ko-KR" sz="2000"/>
              <a:t>validation error</a:t>
            </a:r>
            <a:r>
              <a:rPr lang="ko-KR" altLang="en-US" sz="2000"/>
              <a:t>가 더 높게 나오는 </a:t>
            </a:r>
            <a:r>
              <a:rPr lang="en-US" altLang="ko-KR" sz="2000">
                <a:solidFill>
                  <a:srgbClr val="C00000"/>
                </a:solidFill>
              </a:rPr>
              <a:t>degradation</a:t>
            </a:r>
            <a:r>
              <a:rPr lang="ko-KR" altLang="en-US" sz="2000"/>
              <a:t> 문제 발견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(</a:t>
            </a:r>
            <a:r>
              <a:rPr lang="ko-KR" altLang="en-US" sz="2000"/>
              <a:t>이는 </a:t>
            </a:r>
            <a:r>
              <a:rPr lang="en-US" altLang="ko-KR" sz="2000"/>
              <a:t>vanishing gradient</a:t>
            </a:r>
            <a:r>
              <a:rPr lang="ko-KR" altLang="en-US" sz="2000"/>
              <a:t>의 문제는 아니며</a:t>
            </a:r>
            <a:r>
              <a:rPr lang="en-US" altLang="ko-KR" sz="2000"/>
              <a:t>,</a:t>
            </a:r>
            <a:r>
              <a:rPr lang="ko-KR" altLang="en-US" sz="2000"/>
              <a:t> 낮은 수렴률에 의한 이유로 보았다</a:t>
            </a:r>
            <a:r>
              <a:rPr lang="en-US" altLang="ko-KR" sz="2000"/>
              <a:t>.)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95C294-A317-4588-8EF2-69EA4F8666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789"/>
          <a:stretch/>
        </p:blipFill>
        <p:spPr>
          <a:xfrm>
            <a:off x="1999998" y="2515102"/>
            <a:ext cx="8097844" cy="143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14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ImageNet Classification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반면에 </a:t>
            </a:r>
            <a:r>
              <a:rPr lang="en-US" altLang="ko-KR" sz="2000"/>
              <a:t>residual network</a:t>
            </a:r>
            <a:r>
              <a:rPr lang="ko-KR" altLang="en-US" sz="2000"/>
              <a:t>의 경우 </a:t>
            </a:r>
            <a:r>
              <a:rPr lang="en-US" altLang="ko-KR" sz="2000">
                <a:solidFill>
                  <a:srgbClr val="C00000"/>
                </a:solidFill>
              </a:rPr>
              <a:t>layer</a:t>
            </a:r>
            <a:r>
              <a:rPr lang="ko-KR" altLang="en-US" sz="2000">
                <a:solidFill>
                  <a:srgbClr val="C00000"/>
                </a:solidFill>
              </a:rPr>
              <a:t>가 깊어질수록 </a:t>
            </a:r>
            <a:r>
              <a:rPr lang="en-US" altLang="ko-KR" sz="2000">
                <a:solidFill>
                  <a:srgbClr val="C00000"/>
                </a:solidFill>
              </a:rPr>
              <a:t>error rate</a:t>
            </a:r>
            <a:r>
              <a:rPr lang="ko-KR" altLang="en-US" sz="2000">
                <a:solidFill>
                  <a:srgbClr val="C00000"/>
                </a:solidFill>
              </a:rPr>
              <a:t>가 더 줄어들었다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r>
              <a:rPr lang="ko-KR" altLang="en-US" sz="2000"/>
              <a:t>또 </a:t>
            </a:r>
            <a:r>
              <a:rPr lang="en-US" altLang="ko-KR" sz="2000"/>
              <a:t>optimization </a:t>
            </a:r>
            <a:r>
              <a:rPr lang="ko-KR" altLang="en-US" sz="2000"/>
              <a:t>또한 더욱 </a:t>
            </a:r>
            <a:r>
              <a:rPr lang="ko-KR" altLang="en-US" sz="2000">
                <a:solidFill>
                  <a:srgbClr val="C00000"/>
                </a:solidFill>
              </a:rPr>
              <a:t>빠르게 수렴</a:t>
            </a:r>
            <a:r>
              <a:rPr lang="ko-KR" altLang="en-US" sz="2000"/>
              <a:t>하는 것을 알 수 있다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24B6D0-F01E-4818-B45D-F103D09B64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804"/>
          <a:stretch/>
        </p:blipFill>
        <p:spPr>
          <a:xfrm>
            <a:off x="1587917" y="2521870"/>
            <a:ext cx="9235465" cy="25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3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ImageNet Classification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더 깊은 모델을 위해 </a:t>
            </a:r>
            <a:r>
              <a:rPr lang="en-US" altLang="ko-KR" sz="2000"/>
              <a:t>2 layer</a:t>
            </a:r>
            <a:r>
              <a:rPr lang="ko-KR" altLang="en-US" sz="2000"/>
              <a:t>가 아닌 </a:t>
            </a:r>
            <a:r>
              <a:rPr lang="en-US" altLang="ko-KR" sz="2000">
                <a:solidFill>
                  <a:srgbClr val="C00000"/>
                </a:solidFill>
              </a:rPr>
              <a:t>3 layer</a:t>
            </a:r>
            <a:r>
              <a:rPr lang="ko-KR" altLang="en-US" sz="2000">
                <a:solidFill>
                  <a:srgbClr val="C00000"/>
                </a:solidFill>
              </a:rPr>
              <a:t> </a:t>
            </a:r>
            <a:r>
              <a:rPr lang="ko-KR" altLang="en-US" sz="2000"/>
              <a:t>사용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1*1, 3*3, 1*1</a:t>
            </a:r>
            <a:r>
              <a:rPr lang="ko-KR" altLang="en-US" sz="2000"/>
              <a:t>의 </a:t>
            </a:r>
            <a:r>
              <a:rPr lang="en-US" altLang="ko-KR" sz="2000"/>
              <a:t>conv</a:t>
            </a:r>
            <a:r>
              <a:rPr lang="ko-KR" altLang="en-US" sz="2000"/>
              <a:t>로 이루어져 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/>
              <a:t>첫번째 </a:t>
            </a:r>
            <a:r>
              <a:rPr lang="en-US" altLang="ko-KR" sz="2000"/>
              <a:t>1*1</a:t>
            </a:r>
            <a:r>
              <a:rPr lang="ko-KR" altLang="en-US" sz="2000"/>
              <a:t>은 </a:t>
            </a:r>
            <a:r>
              <a:rPr lang="en-US" altLang="ko-KR" sz="2000"/>
              <a:t>dimension</a:t>
            </a:r>
            <a:r>
              <a:rPr lang="ko-KR" altLang="en-US" sz="2000"/>
              <a:t>을 줄이고</a:t>
            </a:r>
            <a:r>
              <a:rPr lang="en-US" altLang="ko-KR" sz="2000"/>
              <a:t>, </a:t>
            </a:r>
            <a:r>
              <a:rPr lang="ko-KR" altLang="en-US" sz="2000"/>
              <a:t>마지막 </a:t>
            </a:r>
            <a:r>
              <a:rPr lang="en-US" altLang="ko-KR" sz="2000"/>
              <a:t>1</a:t>
            </a:r>
            <a:r>
              <a:rPr lang="ko-KR" altLang="en-US" sz="2000"/>
              <a:t>*</a:t>
            </a:r>
            <a:r>
              <a:rPr lang="en-US" altLang="ko-KR" sz="2000"/>
              <a:t>1</a:t>
            </a:r>
            <a:r>
              <a:rPr lang="ko-KR" altLang="en-US" sz="2000"/>
              <a:t>은 </a:t>
            </a:r>
            <a:r>
              <a:rPr lang="en-US" altLang="ko-KR" sz="2000"/>
              <a:t>dimension</a:t>
            </a:r>
            <a:r>
              <a:rPr lang="ko-KR" altLang="en-US" sz="2000"/>
              <a:t>을 늘리기 위해 쌓았으며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중간의 </a:t>
            </a:r>
            <a:r>
              <a:rPr lang="en-US" altLang="ko-KR" sz="2000"/>
              <a:t>3</a:t>
            </a:r>
            <a:r>
              <a:rPr lang="ko-KR" altLang="en-US" sz="2000"/>
              <a:t>*</a:t>
            </a:r>
            <a:r>
              <a:rPr lang="en-US" altLang="ko-KR" sz="2000"/>
              <a:t>3 conv</a:t>
            </a:r>
            <a:r>
              <a:rPr lang="ko-KR" altLang="en-US" sz="2000"/>
              <a:t>는 </a:t>
            </a:r>
            <a:r>
              <a:rPr lang="en-US" altLang="ko-KR" sz="2000"/>
              <a:t>dimension</a:t>
            </a:r>
            <a:r>
              <a:rPr lang="ko-KR" altLang="en-US" sz="2000"/>
              <a:t>이 줄어들었다가 다시 증가하는 </a:t>
            </a:r>
            <a:r>
              <a:rPr lang="en-US" altLang="ko-KR" sz="2000">
                <a:solidFill>
                  <a:srgbClr val="C00000"/>
                </a:solidFill>
              </a:rPr>
              <a:t>bottleneck</a:t>
            </a:r>
            <a:r>
              <a:rPr lang="ko-KR" altLang="en-US" sz="2000">
                <a:solidFill>
                  <a:srgbClr val="C00000"/>
                </a:solidFill>
              </a:rPr>
              <a:t> 구조</a:t>
            </a:r>
            <a:endParaRPr lang="en-US" altLang="ko-KR" sz="200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5AF381-FD5A-4F3D-A5DC-4D2A7E75BC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079"/>
          <a:stretch/>
        </p:blipFill>
        <p:spPr>
          <a:xfrm>
            <a:off x="2567488" y="2257926"/>
            <a:ext cx="6644744" cy="22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03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CIFAR-10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CIFAR-10 </a:t>
            </a:r>
            <a:r>
              <a:rPr lang="ko-KR" altLang="en-US" sz="2000"/>
              <a:t>데이터셋에 대한 학습 결과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plain</a:t>
            </a:r>
            <a:r>
              <a:rPr lang="ko-KR" altLang="en-US" sz="2000"/>
              <a:t>의 경우 </a:t>
            </a:r>
            <a:r>
              <a:rPr lang="en-US" altLang="ko-KR" sz="2000"/>
              <a:t>20 &gt; 32 &gt; 44 &gt; 56</a:t>
            </a:r>
            <a:r>
              <a:rPr lang="ko-KR" altLang="en-US" sz="2000"/>
              <a:t>의 순서로 성능이 좋았으나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en-US" altLang="ko-KR" sz="2000"/>
              <a:t>residual</a:t>
            </a:r>
            <a:r>
              <a:rPr lang="ko-KR" altLang="en-US" sz="2000"/>
              <a:t>의 경우 </a:t>
            </a:r>
            <a:r>
              <a:rPr lang="en-US" altLang="ko-KR" sz="2000"/>
              <a:t>110 &gt; 56 &gt; 44 &gt; 32 &gt; 20</a:t>
            </a:r>
            <a:r>
              <a:rPr lang="ko-KR" altLang="en-US" sz="2000"/>
              <a:t>으로 깊을수록 좋은 성능을 보였다</a:t>
            </a:r>
            <a:r>
              <a:rPr lang="en-US" altLang="ko-KR" sz="200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6571F2-FCFD-4191-979C-D3D60322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250"/>
          <a:stretch/>
        </p:blipFill>
        <p:spPr>
          <a:xfrm>
            <a:off x="653966" y="2226092"/>
            <a:ext cx="10832181" cy="234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86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CIFAR-10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반면 </a:t>
            </a:r>
            <a:r>
              <a:rPr lang="en-US" altLang="ko-KR" sz="2000"/>
              <a:t>1202 layer ResNet</a:t>
            </a:r>
            <a:r>
              <a:rPr lang="ko-KR" altLang="en-US" sz="2000"/>
              <a:t>의 경우 </a:t>
            </a:r>
            <a:r>
              <a:rPr lang="en-US" altLang="ko-KR" sz="2000"/>
              <a:t>110 layer ResNet</a:t>
            </a:r>
            <a:r>
              <a:rPr lang="ko-KR" altLang="en-US" sz="2000"/>
              <a:t>에 비해 성능이 많이 떨어졌다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/>
              <a:t>이는 모델이 불필요하게 커서 나타나는 </a:t>
            </a:r>
            <a:r>
              <a:rPr lang="en-US" altLang="ko-KR" sz="2000"/>
              <a:t>overfitting </a:t>
            </a:r>
            <a:r>
              <a:rPr lang="ko-KR" altLang="en-US" sz="2000"/>
              <a:t>현상으로 주장한다</a:t>
            </a:r>
            <a:r>
              <a:rPr lang="en-US" altLang="ko-KR" sz="200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6571F2-FCFD-4191-979C-D3D60322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250"/>
          <a:stretch/>
        </p:blipFill>
        <p:spPr>
          <a:xfrm>
            <a:off x="653966" y="2226092"/>
            <a:ext cx="10832181" cy="234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72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Unit 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2400" spc="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04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ㅣ</a:t>
            </a:r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Experiments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Object Detection on PASCAL and MS COCO</a:t>
            </a:r>
            <a:endParaRPr lang="ko-KR" altLang="en-US" sz="2800"/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5389761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기존의 </a:t>
            </a:r>
            <a:r>
              <a:rPr lang="en-US" altLang="ko-KR" sz="2000"/>
              <a:t>VGG</a:t>
            </a:r>
            <a:r>
              <a:rPr lang="ko-KR" altLang="en-US" sz="2000"/>
              <a:t>를 사용하던 </a:t>
            </a:r>
            <a:r>
              <a:rPr lang="en-US" altLang="ko-KR" sz="2000"/>
              <a:t>Faster R-CNN</a:t>
            </a:r>
            <a:r>
              <a:rPr lang="ko-KR" altLang="en-US" sz="2000"/>
              <a:t>에 </a:t>
            </a:r>
            <a:r>
              <a:rPr lang="en-US" altLang="ko-KR" sz="2000"/>
              <a:t>ResNet</a:t>
            </a:r>
            <a:r>
              <a:rPr lang="ko-KR" altLang="en-US" sz="2000"/>
              <a:t>을 이용하여 </a:t>
            </a:r>
            <a:r>
              <a:rPr lang="en-US" altLang="ko-KR" sz="2000"/>
              <a:t>Object Detection</a:t>
            </a:r>
            <a:r>
              <a:rPr lang="ko-KR" altLang="en-US" sz="2000"/>
              <a:t>을 사용하였다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그 결과</a:t>
            </a:r>
            <a:r>
              <a:rPr lang="en-US" altLang="ko-KR" sz="2000"/>
              <a:t>, </a:t>
            </a:r>
            <a:r>
              <a:rPr lang="ko-KR" altLang="en-US" sz="2000"/>
              <a:t>성능이 크게 향상되었다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E08D90-36D4-4B29-8D4C-631014C84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78" y="2366460"/>
            <a:ext cx="60769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마무리</a:t>
            </a:r>
          </a:p>
        </p:txBody>
      </p:sp>
      <p:sp>
        <p:nvSpPr>
          <p:cNvPr id="4" name="내용 개체 틀 10">
            <a:extLst>
              <a:ext uri="{FF2B5EF4-FFF2-40B4-BE49-F238E27FC236}">
                <a16:creationId xmlns:a16="http://schemas.microsoft.com/office/drawing/2014/main" id="{C4137FF1-4810-4079-A8B6-45C443F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" y="1762233"/>
            <a:ext cx="10292935" cy="531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/>
              <a:t>ResNet </a:t>
            </a:r>
            <a:r>
              <a:rPr lang="ko-KR" altLang="en-US" sz="2800"/>
              <a:t>한 장 정리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561474" y="2461005"/>
            <a:ext cx="10042358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깊은 망에서 성능 저하 현상이 나타나는 것을 해결하기 위해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>
                <a:solidFill>
                  <a:srgbClr val="C00000"/>
                </a:solidFill>
              </a:rPr>
              <a:t>Residual</a:t>
            </a:r>
            <a:r>
              <a:rPr lang="ko-KR" altLang="en-US" sz="2000">
                <a:solidFill>
                  <a:srgbClr val="C00000"/>
                </a:solidFill>
              </a:rPr>
              <a:t> </a:t>
            </a:r>
            <a:r>
              <a:rPr lang="en-US" altLang="ko-KR" sz="2000">
                <a:solidFill>
                  <a:srgbClr val="C00000"/>
                </a:solidFill>
              </a:rPr>
              <a:t>Learning</a:t>
            </a:r>
            <a:r>
              <a:rPr lang="ko-KR" altLang="en-US" sz="2000"/>
              <a:t>을 진행하였다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r>
              <a:rPr lang="ko-KR" altLang="en-US" sz="2000"/>
              <a:t>이는 </a:t>
            </a:r>
            <a:r>
              <a:rPr lang="en-US" altLang="ko-KR" sz="2000"/>
              <a:t>F(x) = H(x) – x = 0</a:t>
            </a:r>
            <a:r>
              <a:rPr lang="ko-KR" altLang="en-US" sz="2000"/>
              <a:t>이 되는 방향으로 학습하는 것이다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input</a:t>
            </a:r>
            <a:r>
              <a:rPr lang="ko-KR" altLang="en-US" sz="2000"/>
              <a:t>이 그대로 </a:t>
            </a:r>
            <a:r>
              <a:rPr lang="en-US" altLang="ko-KR" sz="2000"/>
              <a:t>output</a:t>
            </a:r>
            <a:r>
              <a:rPr lang="ko-KR" altLang="en-US" sz="2000"/>
              <a:t>에 연결되므로 </a:t>
            </a:r>
            <a:r>
              <a:rPr lang="en-US" altLang="ko-KR" sz="2000"/>
              <a:t>parameter </a:t>
            </a:r>
            <a:r>
              <a:rPr lang="ko-KR" altLang="en-US" sz="2000"/>
              <a:t>수에 영향이 없으며</a:t>
            </a:r>
            <a:r>
              <a:rPr lang="en-US" altLang="ko-KR" sz="2000"/>
              <a:t>, </a:t>
            </a:r>
          </a:p>
          <a:p>
            <a:pPr marL="0" indent="0">
              <a:buNone/>
            </a:pPr>
            <a:r>
              <a:rPr lang="ko-KR" altLang="en-US" sz="2000"/>
              <a:t>덧셈이 늘어나는 것 외에 연산량 증가 또한 없다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이를 통해 깊은 망도 쉽게 </a:t>
            </a:r>
            <a:r>
              <a:rPr lang="en-US" altLang="ko-KR" sz="2000"/>
              <a:t>optimize </a:t>
            </a:r>
            <a:r>
              <a:rPr lang="ko-KR" altLang="en-US" sz="2000"/>
              <a:t>가능하며</a:t>
            </a:r>
            <a:r>
              <a:rPr lang="en-US" altLang="ko-KR" sz="2000"/>
              <a:t>,</a:t>
            </a:r>
          </a:p>
          <a:p>
            <a:pPr marL="0" indent="0">
              <a:buNone/>
            </a:pPr>
            <a:r>
              <a:rPr lang="ko-KR" altLang="en-US" sz="2000"/>
              <a:t>늘어난 깊이로 인해 정확도를 높이는 효과 또한 가져왔다</a:t>
            </a:r>
            <a:r>
              <a:rPr lang="en-US" altLang="ko-KR" sz="200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C4A2F0-0E60-4259-AD07-38E784845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330" y="3021932"/>
            <a:ext cx="4045375" cy="230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C3F5D-8060-4865-B445-DBC983524DB2}"/>
              </a:ext>
            </a:extLst>
          </p:cNvPr>
          <p:cNvSpPr txBox="1">
            <a:spLocks/>
          </p:cNvSpPr>
          <p:nvPr/>
        </p:nvSpPr>
        <p:spPr>
          <a:xfrm>
            <a:off x="2544605" y="721621"/>
            <a:ext cx="5900724" cy="34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Reference</a:t>
            </a:r>
            <a:endParaRPr lang="ko-KR" altLang="en-US" sz="24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8DF6558D-2986-419F-AB4F-B9304A18C3BB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3675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/>
          </a:p>
        </p:txBody>
      </p:sp>
      <p:sp>
        <p:nvSpPr>
          <p:cNvPr id="9" name="내용 개체 틀 10">
            <a:extLst>
              <a:ext uri="{FF2B5EF4-FFF2-40B4-BE49-F238E27FC236}">
                <a16:creationId xmlns:a16="http://schemas.microsoft.com/office/drawing/2014/main" id="{58074557-B1EB-4BCE-99A9-C85F87F43A7C}"/>
              </a:ext>
            </a:extLst>
          </p:cNvPr>
          <p:cNvSpPr txBox="1">
            <a:spLocks/>
          </p:cNvSpPr>
          <p:nvPr/>
        </p:nvSpPr>
        <p:spPr>
          <a:xfrm>
            <a:off x="385397" y="2461005"/>
            <a:ext cx="10624473" cy="409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12롯데마트드림Light" panose="02020603020101020101" pitchFamily="18" charset="-127"/>
                <a:ea typeface="12롯데마트드림Light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>
                <a:hlinkClick r:id="rId3"/>
              </a:rPr>
              <a:t>https://sike6054.github.io/blog/paper/first-post/#1-introduction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>
                <a:hlinkClick r:id="rId4"/>
              </a:rPr>
              <a:t>https://curaai00.tistory.com/1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>
                <a:hlinkClick r:id="rId5"/>
              </a:rPr>
              <a:t>https://leechamin.tistory.com/184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CS231n</a:t>
            </a:r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695328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0DC1F866-E0C2-484F-A982-84D6B509B379}"/>
              </a:ext>
            </a:extLst>
          </p:cNvPr>
          <p:cNvGrpSpPr/>
          <p:nvPr/>
        </p:nvGrpSpPr>
        <p:grpSpPr>
          <a:xfrm>
            <a:off x="5224428" y="621225"/>
            <a:ext cx="5768470" cy="4536217"/>
            <a:chOff x="3551175" y="366636"/>
            <a:chExt cx="4440516" cy="362073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50BF8F-79F7-462E-AD12-EA849BBEEE36}"/>
                </a:ext>
              </a:extLst>
            </p:cNvPr>
            <p:cNvSpPr/>
            <p:nvPr/>
          </p:nvSpPr>
          <p:spPr>
            <a:xfrm>
              <a:off x="3551175" y="441813"/>
              <a:ext cx="4259168" cy="3545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12롯데마트드림Medium" panose="02020603020101020101" pitchFamily="18" charset="-127"/>
                <a:ea typeface="12롯데마트드림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46BB0B2-87C8-4124-A6A0-BF8487384537}"/>
                </a:ext>
              </a:extLst>
            </p:cNvPr>
            <p:cNvGrpSpPr/>
            <p:nvPr/>
          </p:nvGrpSpPr>
          <p:grpSpPr>
            <a:xfrm>
              <a:off x="5299700" y="483518"/>
              <a:ext cx="2448272" cy="3475680"/>
              <a:chOff x="2275364" y="915566"/>
              <a:chExt cx="2448272" cy="347568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307D54D-FD08-4597-9AAC-3DF999081C01}"/>
                  </a:ext>
                </a:extLst>
              </p:cNvPr>
              <p:cNvSpPr/>
              <p:nvPr/>
            </p:nvSpPr>
            <p:spPr>
              <a:xfrm>
                <a:off x="2275364" y="915566"/>
                <a:ext cx="2448272" cy="2232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12롯데마트드림Medium" panose="02020603020101020101" pitchFamily="18" charset="-127"/>
                  <a:ea typeface="12롯데마트드림Medium" panose="02020603020101020101" pitchFamily="18" charset="-127"/>
                </a:endParaRPr>
              </a:p>
            </p:txBody>
          </p:sp>
          <p:sp>
            <p:nvSpPr>
              <p:cNvPr id="23" name="사다리꼴 22">
                <a:extLst>
                  <a:ext uri="{FF2B5EF4-FFF2-40B4-BE49-F238E27FC236}">
                    <a16:creationId xmlns:a16="http://schemas.microsoft.com/office/drawing/2014/main" id="{FA5539A5-C038-48F3-9AC2-5820D108A092}"/>
                  </a:ext>
                </a:extLst>
              </p:cNvPr>
              <p:cNvSpPr/>
              <p:nvPr/>
            </p:nvSpPr>
            <p:spPr>
              <a:xfrm rot="11700000">
                <a:off x="3841153" y="3023094"/>
                <a:ext cx="720080" cy="1368152"/>
              </a:xfrm>
              <a:prstGeom prst="trapezoid">
                <a:avLst>
                  <a:gd name="adj" fmla="val 36043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12롯데마트드림Medium" panose="02020603020101020101" pitchFamily="18" charset="-127"/>
                  <a:ea typeface="12롯데마트드림Medium" panose="02020603020101020101" pitchFamily="18" charset="-127"/>
                </a:endParaRPr>
              </a:p>
            </p:txBody>
          </p:sp>
        </p:grpSp>
        <p:sp>
          <p:nvSpPr>
            <p:cNvPr id="20" name="제목 1">
              <a:extLst>
                <a:ext uri="{FF2B5EF4-FFF2-40B4-BE49-F238E27FC236}">
                  <a16:creationId xmlns:a16="http://schemas.microsoft.com/office/drawing/2014/main" id="{D8231365-F64C-46C1-8F75-820775EFA1EB}"/>
                </a:ext>
              </a:extLst>
            </p:cNvPr>
            <p:cNvSpPr txBox="1">
              <a:spLocks/>
            </p:cNvSpPr>
            <p:nvPr/>
          </p:nvSpPr>
          <p:spPr>
            <a:xfrm>
              <a:off x="5388635" y="366636"/>
              <a:ext cx="2603056" cy="110251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8000" spc="-300">
                  <a:solidFill>
                    <a:schemeClr val="bg1"/>
                  </a:solidFill>
                  <a:latin typeface="12롯데마트드림Medium" panose="02020603020101020101" pitchFamily="18" charset="-127"/>
                  <a:ea typeface="12롯데마트드림Medium" panose="02020603020101020101" pitchFamily="18" charset="-127"/>
                </a:rPr>
                <a:t>Q &amp; A</a:t>
              </a:r>
              <a:endParaRPr lang="ko-KR" altLang="en-US" sz="8000" spc="-300">
                <a:solidFill>
                  <a:schemeClr val="bg1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996C020A-B6A4-4E0B-8F33-D6710800837B}"/>
                </a:ext>
              </a:extLst>
            </p:cNvPr>
            <p:cNvSpPr txBox="1">
              <a:spLocks/>
            </p:cNvSpPr>
            <p:nvPr/>
          </p:nvSpPr>
          <p:spPr>
            <a:xfrm>
              <a:off x="3551175" y="3591404"/>
              <a:ext cx="3238128" cy="3458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ko-KR" altLang="en-US" sz="2800" spc="-15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Medium" panose="02020603020101020101" pitchFamily="18" charset="-127"/>
                  <a:ea typeface="12롯데마트드림Medium" panose="02020603020101020101" pitchFamily="18" charset="-127"/>
                </a:rPr>
                <a:t>들어주셔서 감사합니다</a:t>
              </a:r>
              <a:r>
                <a:rPr lang="en-US" altLang="ko-KR" sz="2800" spc="-15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12롯데마트드림Medium" panose="02020603020101020101" pitchFamily="18" charset="-127"/>
                  <a:ea typeface="12롯데마트드림Medium" panose="02020603020101020101" pitchFamily="18" charset="-127"/>
                </a:rPr>
                <a:t>.</a:t>
              </a:r>
              <a:endParaRPr lang="ko-KR" altLang="en-US" sz="2800" spc="-15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157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3054</TotalTime>
  <Words>1529</Words>
  <Application>Microsoft Office PowerPoint</Application>
  <PresentationFormat>와이드스크린</PresentationFormat>
  <Paragraphs>294</Paragraphs>
  <Slides>34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12롯데마트드림Bold</vt:lpstr>
      <vt:lpstr>12롯데마트드림Light</vt:lpstr>
      <vt:lpstr>12롯데마트드림Medium</vt:lpstr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 J</dc:creator>
  <cp:lastModifiedBy>SAEYOON LEE</cp:lastModifiedBy>
  <cp:revision>124</cp:revision>
  <dcterms:created xsi:type="dcterms:W3CDTF">2017-07-26T09:20:04Z</dcterms:created>
  <dcterms:modified xsi:type="dcterms:W3CDTF">2020-03-30T15:06:04Z</dcterms:modified>
</cp:coreProperties>
</file>